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9984"/>
            <a:ext cx="12161520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28016"/>
            <a:ext cx="164592" cy="660196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457200"/>
            <a:ext cx="3108960" cy="822960"/>
          </a:xfrm>
          <a:prstGeom prst="rect">
            <a:avLst/>
          </a:prstGeom>
          <a:solidFill>
            <a:srgbClr val="2E75B6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502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CAISA™  Level 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87782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Foundations Architect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915400" y="457200"/>
            <a:ext cx="3108960" cy="822960"/>
          </a:xfrm>
          <a:prstGeom prst="rect">
            <a:avLst/>
          </a:prstGeom>
          <a:solidFill>
            <a:srgbClr val="C9A227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915400" y="51206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OF 48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15400" y="88696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I: ML Foundations  ·  Week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508760"/>
            <a:ext cx="11521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vs.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365760" y="2468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365760" y="3310128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365760" y="4059936"/>
            <a:ext cx="868680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4169664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Loss Functions · Calibration · Diagnostics · Decision Boundaries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4773168"/>
            <a:ext cx="4480560" cy="548640"/>
          </a:xfrm>
          <a:prstGeom prst="rect">
            <a:avLst/>
          </a:prstGeom>
          <a:solidFill>
            <a:srgbClr val="163359"/>
          </a:solidFill>
          <a:ln w="1016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8646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Study Time: 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920240" y="48646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Hours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0" y="4773168"/>
            <a:ext cx="4480560" cy="548640"/>
          </a:xfrm>
          <a:prstGeom prst="rect">
            <a:avLst/>
          </a:prstGeom>
          <a:solidFill>
            <a:srgbClr val="163359"/>
          </a:solidFill>
          <a:ln w="10160">
            <a:solidFill>
              <a:srgbClr val="2E75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48646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Format: 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583680" y="48646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+ Worked Examples + Decision Frameworks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5431536"/>
            <a:ext cx="4480560" cy="548640"/>
          </a:xfrm>
          <a:prstGeom prst="rect">
            <a:avLst/>
          </a:prstGeom>
          <a:solidFill>
            <a:srgbClr val="163359"/>
          </a:solidFill>
          <a:ln w="10160">
            <a:solidFill>
              <a:srgbClr val="2E75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552297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Jurisdictions: 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920240" y="55229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· UK · DE · FR · NL · US · Canada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0" y="5431536"/>
            <a:ext cx="4480560" cy="548640"/>
          </a:xfrm>
          <a:prstGeom prst="rect">
            <a:avLst/>
          </a:prstGeom>
          <a:solidFill>
            <a:srgbClr val="163359"/>
          </a:solidFill>
          <a:ln w="10160">
            <a:solidFill>
              <a:srgbClr val="2E75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552297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Position: 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583680" y="55229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|  Chapter 3 of 48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0" y="14630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CAISA™ L1 · Chapter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914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" y="713232"/>
            <a:ext cx="12088368" cy="292608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749808"/>
            <a:ext cx="1170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chapter you will be able to: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6583680"/>
            <a:ext cx="1216152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6620256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SaamSoft Systems  |  Confidential &amp; Proprietary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82880" y="1133856"/>
            <a:ext cx="5760720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Distinguish classification and regression at the mathematical level — output space, loss function, decision rule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2880" y="1975104"/>
            <a:ext cx="5760720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Explain sigmoid and softmax functions and derive binary and categorical cross-entropy from first principles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2880" y="2816352"/>
            <a:ext cx="5760720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Describe decision boundary concepts: linear vs. non-linear classifiers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" y="3657600"/>
            <a:ext cx="5760720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Articulate OvR, OvO, and Softmax multi-class strategies and select the right one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4498848"/>
            <a:ext cx="5760720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Explain ordinal regression — the bridge between classification and regression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26480" y="1133856"/>
            <a:ext cx="5760720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Explain probability calibration (Platt Scaling, Isotonic, Temperature) and justify its regulatory importance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26480" y="1975104"/>
            <a:ext cx="5760720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Apply regression diagnostics (residual analysis, QQ plots, heteroscedasticity)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2816352"/>
            <a:ext cx="5760720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Identify feature engineering strategies specific to each problem type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26480" y="3657600"/>
            <a:ext cx="5760720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Analyse 8 enterprise case studies: EU · UK · DE · FR · NL · US · Canada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26480" y="4498848"/>
            <a:ext cx="5760720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Apply loss function selection frameworks to real business cost structures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9728" y="6144768"/>
            <a:ext cx="11978640" cy="457200"/>
          </a:xfrm>
          <a:prstGeom prst="rect">
            <a:avLst/>
          </a:prstGeom>
          <a:solidFill>
            <a:srgbClr val="D6E4F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9728" y="6144768"/>
            <a:ext cx="91440" cy="4572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6163056"/>
            <a:ext cx="1170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Chapter 2 introduced classification vs. regression. Chapter 3 dissects the mathematics, loss functions, calibration frameworks, and diagnostic workflows — the daily tools of the enterprise AI architect.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46304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365760" y="260604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Spaces &amp; Decision Rules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374904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consequential architectural choice — everything else follows from here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418320" y="914400"/>
            <a:ext cx="2560320" cy="5029200"/>
          </a:xfrm>
          <a:prstGeom prst="rect">
            <a:avLst/>
          </a:prstGeom>
          <a:solidFill>
            <a:srgbClr val="2E75B6">
              <a:alpha val="30000"/>
            </a:srgbClr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0" y="14630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CAISA™ L1 · Chapter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914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 Output Space Architecture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" y="713232"/>
            <a:ext cx="12088368" cy="292608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749808"/>
            <a:ext cx="1170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space determines loss function, activation, metric, and monitoring strategy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6583680"/>
            <a:ext cx="1216152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6620256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SaamSoft Systems  |  Confidential &amp; Proprietary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82880" y="1115568"/>
            <a:ext cx="576072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82880" y="1115568"/>
            <a:ext cx="5760720" cy="47548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117043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 |  Y ⊆ ℝ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4320" y="168249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f: X → ℝ  (continuous output)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" y="208483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Magnitude matters — 950 vs 1000 is smaller error than 500 vs 1000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0040" y="246888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Output is dense — infinitely many possible values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0040" y="285292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Implicit ordering — values closer together are 'more similar'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0040" y="32369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Distance-based loss functions: MSE / MAE / Huber / Tweedie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0040" y="3621024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Output activation: Linear (identity) — no bounds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0040" y="400507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Decision rule: ŷ = f(x) directly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0040" y="438912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Evaluation: MAE, RMSE, R², MAPE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0040" y="477316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Baseline: Mean predictor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17920" y="1115568"/>
            <a:ext cx="576072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0" y="1115568"/>
            <a:ext cx="5760720" cy="47548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117043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 |  Y ⊆ {0,1…K}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09360" y="168249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f: X → Δᴷ  (probability distribution)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55080" y="208483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Magnitude does NOT matter — classes are discrete categories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55080" y="246888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Output is finite — exactly K possible values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355080" y="285292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implicit ordering (unless ordinal)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355080" y="32369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Cross-entropy loss: BCE / CCE / Focal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55080" y="3621024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Binary: Sigmoid → [0,1] probability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355080" y="400507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Multi-class: Softmax → probability distribution over K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355080" y="438912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Decision rule: argmax_k P(y=k|x)  or  P(y=1|x) &gt; θ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355080" y="477316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Threshold θ = BUSINESS PARAMETER, not model parameter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0" y="14630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CAISA™ L1 · Chapter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914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 Architectural Comparison — Full Dimension Table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" y="713232"/>
            <a:ext cx="12088368" cy="292608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749808"/>
            <a:ext cx="1170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downstream decision flows from the output space choice made at problem framing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6583680"/>
            <a:ext cx="1216152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6620256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SaamSoft Systems  |  Confidential &amp; Proprietary</a:t>
            </a:r>
            <a:endParaRPr lang="en-US" sz="7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" y="1115568"/>
          <a:ext cx="11942064" cy="5102352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3200400"/>
                <a:gridCol w="4169664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Classification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Multi-class Classification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activation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(identity)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Sigmoid: σ(z) = 1/(1+e⁻ᶻ)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Softmax: eᶻᵏ / Σeᶻʲ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range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ℝ (unbounded)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[0,1] — probability of positive class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Δᴷ — probability distribution over 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loss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 / MAE / Huber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Cross-Entropy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 Cross-Entropy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rule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ŷ = f(x) directly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ŷ = 1 if P(y=1|x) &gt; θ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ŷ = argmax_k P(y=k|x)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metrics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MAE, RMSE, R², MAPE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AUC-ROC, F1, Precision, Recall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Macro/Micro F1, Accuracy (balanced)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Calibration need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critical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Platt Scaling / Isotonic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 Scaling / Platt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 AI Act trigger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Indirect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Direct: credit/insurance/employment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Direct: credit/insurance/employment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46304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365760" y="260604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Functions — Deep Dive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374904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mathematical operationalisation of the business objective — choose wrong and the model is wrong by design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418320" y="914400"/>
            <a:ext cx="2560320" cy="5029200"/>
          </a:xfrm>
          <a:prstGeom prst="rect">
            <a:avLst/>
          </a:prstGeom>
          <a:solidFill>
            <a:srgbClr val="2E75B6">
              <a:alpha val="30000"/>
            </a:srgbClr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0" y="14630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CAISA™ L1 · Chapter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914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3.2.1  Regression Loss Functions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" y="713232"/>
            <a:ext cx="12088368" cy="292608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749808"/>
            <a:ext cx="1170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loss function encodes a different assumption about how the business values prediction errors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6583680"/>
            <a:ext cx="1216152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6620256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SaamSoft Systems  |  Confidential &amp; Proprietary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82880" y="1115568"/>
            <a:ext cx="37490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82880" y="1115568"/>
            <a:ext cx="3749040" cy="420624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1188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(L2)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" y="16459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Σ(y−ŷ)²/n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74320" y="199339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Large errors are very costly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274320" y="2532888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i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forecasting (Siemens, SAP)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4160520" y="1115568"/>
            <a:ext cx="37490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60520" y="1115568"/>
            <a:ext cx="3749040" cy="420624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9" name="Text 17"/>
          <p:cNvSpPr/>
          <p:nvPr/>
        </p:nvSpPr>
        <p:spPr>
          <a:xfrm>
            <a:off x="4251960" y="1188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(L1)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51960" y="16459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Σ|y−ŷ|/n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251960" y="199339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Outliers are common; linear error cost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4251960" y="2532888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i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 (Carrefour, Lidl)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8138160" y="1115568"/>
            <a:ext cx="37490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38160" y="1115568"/>
            <a:ext cx="3749040" cy="42062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0" y="1188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0" y="16459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L² if |e|≤δ, else δ(|e|−δ/2)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229600" y="199339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General purpose; best of both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8229600" y="2532888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i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regression (BNP Paribas)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182880" y="3474720"/>
            <a:ext cx="37490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82880" y="3474720"/>
            <a:ext cx="3749040" cy="42062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35478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Tweedie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74320" y="400507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 compound distribution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74320" y="4352544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Zero-inflated, heavy-tailed data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274320" y="4892040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i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pricing (AXA), retail demand (Zalando)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4160520" y="3474720"/>
            <a:ext cx="37490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160520" y="3474720"/>
            <a:ext cx="3749040" cy="420624"/>
          </a:xfrm>
          <a:prstGeom prst="rect">
            <a:avLst/>
          </a:prstGeom>
          <a:solidFill>
            <a:srgbClr val="205070"/>
          </a:solidFill>
          <a:ln/>
        </p:spPr>
      </p:sp>
      <p:sp>
        <p:nvSpPr>
          <p:cNvPr id="37" name="Text 35"/>
          <p:cNvSpPr/>
          <p:nvPr/>
        </p:nvSpPr>
        <p:spPr>
          <a:xfrm>
            <a:off x="4251960" y="35478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Quantile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251960" y="400507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τ(y−ŷ) or (1−τ)(ŷ−y)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251960" y="4352544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Asymmetric error costs; tail estimation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4251960" y="4892040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i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tails (Lloyds of London, OSFI stress tests)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8138160" y="3474720"/>
            <a:ext cx="37490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138160" y="3474720"/>
            <a:ext cx="3749040" cy="420624"/>
          </a:xfrm>
          <a:prstGeom prst="rect">
            <a:avLst/>
          </a:prstGeom>
          <a:solidFill>
            <a:srgbClr val="205070"/>
          </a:solidFill>
          <a:ln/>
        </p:spPr>
      </p:sp>
      <p:sp>
        <p:nvSpPr>
          <p:cNvPr id="43" name="Text 41"/>
          <p:cNvSpPr/>
          <p:nvPr/>
        </p:nvSpPr>
        <p:spPr>
          <a:xfrm>
            <a:off x="8229600" y="35478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Log-Cosh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229600" y="400507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log(cosh(y−ŷ))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229600" y="4352544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Smooth L2/L1 hybrid; twice differentiable</a:t>
            </a:r>
            <a:endParaRPr lang="en-US" sz="880" dirty="0"/>
          </a:p>
        </p:txBody>
      </p:sp>
      <p:sp>
        <p:nvSpPr>
          <p:cNvPr id="46" name="Text 44"/>
          <p:cNvSpPr/>
          <p:nvPr/>
        </p:nvSpPr>
        <p:spPr>
          <a:xfrm>
            <a:off x="8229600" y="4892040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i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severity (AXA, Zurich)</a:t>
            </a:r>
            <a:endParaRPr lang="en-US" sz="8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0" y="14630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CAISA™ L1 · Chapter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914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3.2.2  Classification Loss Functions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" y="713232"/>
            <a:ext cx="12088368" cy="292608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749808"/>
            <a:ext cx="1170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is Binary Cross-Entropy — but it is rarely optimal for imbalanced enterprise datasets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6583680"/>
            <a:ext cx="1216152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6620256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SaamSoft Systems  |  Confidential &amp; Proprietary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82880" y="1115568"/>
            <a:ext cx="3749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82880" y="1115568"/>
            <a:ext cx="3749040" cy="420624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1188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Cross-Entropy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74320" y="16459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−[y·log(p)+(1−y)·log(1−p)]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1993392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Standard binary; outputs calibrated probability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74320" y="2578608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(Stripe), credit default (ING, Wells Fargo)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160520" y="1115568"/>
            <a:ext cx="3749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60520" y="1115568"/>
            <a:ext cx="3749040" cy="420624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9" name="Text 17"/>
          <p:cNvSpPr/>
          <p:nvPr/>
        </p:nvSpPr>
        <p:spPr>
          <a:xfrm>
            <a:off x="4251960" y="1188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Cross-Entropy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251960" y="16459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−Σ y_k · log(p_k)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251960" y="1993392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Multi-class with Softmax; balanced classes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251960" y="2578608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routing (HMRC), disease classification (NHS AI Lab)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138160" y="1115568"/>
            <a:ext cx="3749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38160" y="1115568"/>
            <a:ext cx="3749040" cy="42062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0" y="1188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Loss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229600" y="16459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−(1−p_t)ᵞ · log(p_t)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0" y="1993392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Extreme imbalance: fraud 0.05%, rare disease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229600" y="2578608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Optum/UHG (8% imbalance), Philips Healthcare imaging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171700" y="3493008"/>
            <a:ext cx="3749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171700" y="3493008"/>
            <a:ext cx="3749040" cy="42062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1" name="Text 29"/>
          <p:cNvSpPr/>
          <p:nvPr/>
        </p:nvSpPr>
        <p:spPr>
          <a:xfrm>
            <a:off x="2263140" y="3566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Hinge Loss (SVM)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263140" y="40233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 max(0, 1 − y·f(x))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263140" y="4370832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Hard-margin; probabilistic output not needed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263140" y="4956048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document classification; high-dim text (SVM only)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149340" y="3493008"/>
            <a:ext cx="3749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49340" y="3493008"/>
            <a:ext cx="3749040" cy="420624"/>
          </a:xfrm>
          <a:prstGeom prst="rect">
            <a:avLst/>
          </a:prstGeom>
          <a:solidFill>
            <a:srgbClr val="205070"/>
          </a:solidFill>
          <a:ln/>
        </p:spPr>
      </p:sp>
      <p:sp>
        <p:nvSpPr>
          <p:cNvPr id="37" name="Text 35"/>
          <p:cNvSpPr/>
          <p:nvPr/>
        </p:nvSpPr>
        <p:spPr>
          <a:xfrm>
            <a:off x="6240780" y="3566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Divergence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240780" y="40233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 p·log(p/q)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40780" y="4370832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Distribution difference; model compression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240780" y="4956048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distillation; deploy large → small model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0" y="14630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CAISA™ L1 · Chapter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914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 Loss Function Selection Framework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" y="713232"/>
            <a:ext cx="12088368" cy="292608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749808"/>
            <a:ext cx="1170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diagnostic questions the enterprise AI architect must answer before choosing a loss function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6583680"/>
            <a:ext cx="1216152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6620256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SaamSoft Systems  |  Confidential &amp; Proprietary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82880" y="1115568"/>
            <a:ext cx="5760720" cy="1481328"/>
          </a:xfrm>
          <a:prstGeom prst="rect">
            <a:avLst/>
          </a:prstGeom>
          <a:solidFill>
            <a:srgbClr val="FFFFFF"/>
          </a:solidFill>
          <a:ln w="15240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82880" y="1115568"/>
            <a:ext cx="109728" cy="148132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207008"/>
            <a:ext cx="5468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Are errors symmetric?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" y="1554480"/>
            <a:ext cx="54681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over-prediction and under-prediction have equal business cost → MSE or BCE acceptable. If asymmetric → Quantile Loss or class-weighted loss.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72200" y="1115568"/>
            <a:ext cx="5760720" cy="1481328"/>
          </a:xfrm>
          <a:prstGeom prst="rect">
            <a:avLst/>
          </a:prstGeom>
          <a:solidFill>
            <a:srgbClr val="FFFFFF"/>
          </a:solidFill>
          <a:ln w="15240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1115568"/>
            <a:ext cx="109728" cy="148132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7" name="Text 15"/>
          <p:cNvSpPr/>
          <p:nvPr/>
        </p:nvSpPr>
        <p:spPr>
          <a:xfrm>
            <a:off x="6373368" y="1207008"/>
            <a:ext cx="5468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Are there outliers in y?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73368" y="1554480"/>
            <a:ext cx="54681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outliers are common and should not dominate training → MAE or Huber. If outliers indicate genuine risk events → MSE to up-weight them.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82880" y="2706624"/>
            <a:ext cx="5760720" cy="1481328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82880" y="2706624"/>
            <a:ext cx="109728" cy="148132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" y="2798064"/>
            <a:ext cx="5468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Is the dataset severely imbalanced?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" y="3145536"/>
            <a:ext cx="54681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(~0.05%), rare disease (&lt;0.1%), anomaly detection → Focal Loss or class-weighted BCE. Imbalance threshold: minority class &lt; 5% triggers investigation.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72200" y="2706624"/>
            <a:ext cx="5760720" cy="1481328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72200" y="2706624"/>
            <a:ext cx="109728" cy="148132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5" name="Text 23"/>
          <p:cNvSpPr/>
          <p:nvPr/>
        </p:nvSpPr>
        <p:spPr>
          <a:xfrm>
            <a:off x="6373368" y="2798064"/>
            <a:ext cx="5468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Does the business need probabilities?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73368" y="3145536"/>
            <a:ext cx="54681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scores, insurance pricing, clinical diagnosis require calibrated probabilities → BCE/CCE/Focal. Hinge loss does NOT produce probabilities.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82880" y="4297680"/>
            <a:ext cx="5760720" cy="1481328"/>
          </a:xfrm>
          <a:prstGeom prst="rect">
            <a:avLst/>
          </a:prstGeom>
          <a:solidFill>
            <a:srgbClr val="FFFFFF"/>
          </a:solidFill>
          <a:ln w="15240">
            <a:solidFill>
              <a:srgbClr val="2050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82880" y="4297680"/>
            <a:ext cx="109728" cy="1481328"/>
          </a:xfrm>
          <a:prstGeom prst="rect">
            <a:avLst/>
          </a:prstGeom>
          <a:solidFill>
            <a:srgbClr val="205070"/>
          </a:solidFill>
          <a:ln/>
        </p:spPr>
      </p:sp>
      <p:sp>
        <p:nvSpPr>
          <p:cNvPr id="29" name="Text 27"/>
          <p:cNvSpPr/>
          <p:nvPr/>
        </p:nvSpPr>
        <p:spPr>
          <a:xfrm>
            <a:off x="384048" y="4389120"/>
            <a:ext cx="5468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0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Is the target zero-inflated or heavy-tailed?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84048" y="4736592"/>
            <a:ext cx="54681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claims, retail demand, medical costs → Tweedie loss (compound Poisson-Gamma). Standard MSE systematically underestimates variance.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72200" y="4297680"/>
            <a:ext cx="5760720" cy="1481328"/>
          </a:xfrm>
          <a:prstGeom prst="rect">
            <a:avLst/>
          </a:prstGeom>
          <a:solidFill>
            <a:srgbClr val="FFFFFF"/>
          </a:solidFill>
          <a:ln w="15240">
            <a:solidFill>
              <a:srgbClr val="2050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72200" y="4297680"/>
            <a:ext cx="109728" cy="1481328"/>
          </a:xfrm>
          <a:prstGeom prst="rect">
            <a:avLst/>
          </a:prstGeom>
          <a:solidFill>
            <a:srgbClr val="205070"/>
          </a:solidFill>
          <a:ln/>
        </p:spPr>
      </p:sp>
      <p:sp>
        <p:nvSpPr>
          <p:cNvPr id="33" name="Text 31"/>
          <p:cNvSpPr/>
          <p:nvPr/>
        </p:nvSpPr>
        <p:spPr>
          <a:xfrm>
            <a:off x="6373368" y="4389120"/>
            <a:ext cx="5468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0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Is the cost asymmetric by prediction direction?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73368" y="4736592"/>
            <a:ext cx="54681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Catching defaulters more important than false positives → Quantile Loss (τ&gt;0.5). Inventory: stockout more costly than overstock → asymmetric Quantile.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46304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365760" y="260604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Boundaries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374904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geometry of the boundary determines interpretability, regulatory fit, and generalisation behaviour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418320" y="914400"/>
            <a:ext cx="2560320" cy="5029200"/>
          </a:xfrm>
          <a:prstGeom prst="rect">
            <a:avLst/>
          </a:prstGeom>
          <a:solidFill>
            <a:srgbClr val="2E75B6">
              <a:alpha val="30000"/>
            </a:srgbClr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0" y="14630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CAISA™ L1 · Chapter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914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 Linear vs. Non-Linear Decision Boundaries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" y="713232"/>
            <a:ext cx="12088368" cy="292608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749808"/>
            <a:ext cx="1170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type is a compliance decision, not just a design preference — document it in EU AI Act Annex IV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6583680"/>
            <a:ext cx="1216152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6620256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SaamSoft Systems  |  Confidential &amp; Proprietary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82880" y="1115568"/>
            <a:ext cx="3749040" cy="2359152"/>
          </a:xfrm>
          <a:prstGeom prst="rect">
            <a:avLst/>
          </a:prstGeom>
          <a:solidFill>
            <a:srgbClr val="FFFFFF"/>
          </a:solidFill>
          <a:ln w="15240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82880" y="1115568"/>
            <a:ext cx="3749040" cy="40233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1188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" y="160934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Boundary: Linear hyperplane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19568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Interpretability: Very High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274320" y="22494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 risk: Low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274320" y="2596896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i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baseline EU/UK/CA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4160520" y="1115568"/>
            <a:ext cx="3749040" cy="2359152"/>
          </a:xfrm>
          <a:prstGeom prst="rect">
            <a:avLst/>
          </a:prstGeom>
          <a:solidFill>
            <a:srgbClr val="FFFFFF"/>
          </a:solidFill>
          <a:ln w="15240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60520" y="1115568"/>
            <a:ext cx="3749040" cy="40233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0" name="Text 18"/>
          <p:cNvSpPr/>
          <p:nvPr/>
        </p:nvSpPr>
        <p:spPr>
          <a:xfrm>
            <a:off x="4251960" y="1188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251960" y="160934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Boundary: Axis-parallel rectangles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251960" y="19568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Interpretability: High (tree rules)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4251960" y="22494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 risk: High w/o pruning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4251960" y="2596896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i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extraction, audit-ready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8138160" y="1115568"/>
            <a:ext cx="3749040" cy="2359152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138160" y="1115568"/>
            <a:ext cx="3749040" cy="40233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0" y="1188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0" y="160934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Boundary: Ensemble of rectangles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29600" y="19568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Interpretability: Moderate (feat. importance)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8229600" y="22494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 risk: Low (bagging)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8229600" y="2596896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i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Fraud/credit medium complexity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182880" y="3602736"/>
            <a:ext cx="3749040" cy="2359152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82880" y="3602736"/>
            <a:ext cx="3749040" cy="40233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36758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74320" y="409651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Boundary: Complex non-linear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74320" y="44439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Interpretability: Low (SHAP required)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274320" y="47365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 risk: Moderate</a:t>
            </a:r>
            <a:endParaRPr lang="en-US" sz="880" dirty="0"/>
          </a:p>
        </p:txBody>
      </p:sp>
      <p:sp>
        <p:nvSpPr>
          <p:cNvPr id="38" name="Text 36"/>
          <p:cNvSpPr/>
          <p:nvPr/>
        </p:nvSpPr>
        <p:spPr>
          <a:xfrm>
            <a:off x="274320" y="5084064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i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Production: HSBC, ING, RBC, BNP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4160520" y="3602736"/>
            <a:ext cx="3749040" cy="2359152"/>
          </a:xfrm>
          <a:prstGeom prst="rect">
            <a:avLst/>
          </a:prstGeom>
          <a:solidFill>
            <a:srgbClr val="FFFFFF"/>
          </a:solidFill>
          <a:ln w="15240">
            <a:solidFill>
              <a:srgbClr val="2050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160520" y="3602736"/>
            <a:ext cx="3749040" cy="402336"/>
          </a:xfrm>
          <a:prstGeom prst="rect">
            <a:avLst/>
          </a:prstGeom>
          <a:solidFill>
            <a:srgbClr val="205070"/>
          </a:solidFill>
          <a:ln/>
        </p:spPr>
      </p:sp>
      <p:sp>
        <p:nvSpPr>
          <p:cNvPr id="41" name="Text 39"/>
          <p:cNvSpPr/>
          <p:nvPr/>
        </p:nvSpPr>
        <p:spPr>
          <a:xfrm>
            <a:off x="4251960" y="36758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(RBF kernel)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251960" y="409651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Boundary: Smooth curves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251960" y="44439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Interpretability: Very Low</a:t>
            </a:r>
            <a:endParaRPr lang="en-US" sz="880" dirty="0"/>
          </a:p>
        </p:txBody>
      </p:sp>
      <p:sp>
        <p:nvSpPr>
          <p:cNvPr id="44" name="Text 42"/>
          <p:cNvSpPr/>
          <p:nvPr/>
        </p:nvSpPr>
        <p:spPr>
          <a:xfrm>
            <a:off x="4251960" y="47365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 risk: Moderate</a:t>
            </a:r>
            <a:endParaRPr lang="en-US" sz="880" dirty="0"/>
          </a:p>
        </p:txBody>
      </p:sp>
      <p:sp>
        <p:nvSpPr>
          <p:cNvPr id="45" name="Text 43"/>
          <p:cNvSpPr/>
          <p:nvPr/>
        </p:nvSpPr>
        <p:spPr>
          <a:xfrm>
            <a:off x="4251960" y="5084064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i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High-dim text/image classification</a:t>
            </a:r>
            <a:endParaRPr lang="en-US" sz="880" dirty="0"/>
          </a:p>
        </p:txBody>
      </p:sp>
      <p:sp>
        <p:nvSpPr>
          <p:cNvPr id="46" name="Shape 44"/>
          <p:cNvSpPr/>
          <p:nvPr/>
        </p:nvSpPr>
        <p:spPr>
          <a:xfrm>
            <a:off x="8138160" y="3602736"/>
            <a:ext cx="3749040" cy="2359152"/>
          </a:xfrm>
          <a:prstGeom prst="rect">
            <a:avLst/>
          </a:prstGeom>
          <a:solidFill>
            <a:srgbClr val="FFFFFF"/>
          </a:solidFill>
          <a:ln w="15240">
            <a:solidFill>
              <a:srgbClr val="2050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8138160" y="3602736"/>
            <a:ext cx="3749040" cy="402336"/>
          </a:xfrm>
          <a:prstGeom prst="rect">
            <a:avLst/>
          </a:prstGeom>
          <a:solidFill>
            <a:srgbClr val="205070"/>
          </a:solidFill>
          <a:ln/>
        </p:spPr>
      </p:sp>
      <p:sp>
        <p:nvSpPr>
          <p:cNvPr id="48" name="Text 46"/>
          <p:cNvSpPr/>
          <p:nvPr/>
        </p:nvSpPr>
        <p:spPr>
          <a:xfrm>
            <a:off x="8229600" y="36758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229600" y="409651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Boundary: Arbitrary smooth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229600" y="44439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Interpretability: Very Low (attention maps)</a:t>
            </a:r>
            <a:endParaRPr lang="en-US" sz="880" dirty="0"/>
          </a:p>
        </p:txBody>
      </p:sp>
      <p:sp>
        <p:nvSpPr>
          <p:cNvPr id="51" name="Text 49"/>
          <p:cNvSpPr/>
          <p:nvPr/>
        </p:nvSpPr>
        <p:spPr>
          <a:xfrm>
            <a:off x="8229600" y="47365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 risk: High (needs regularisation)</a:t>
            </a:r>
            <a:endParaRPr lang="en-US" sz="880" dirty="0"/>
          </a:p>
        </p:txBody>
      </p:sp>
      <p:sp>
        <p:nvSpPr>
          <p:cNvPr id="52" name="Text 50"/>
          <p:cNvSpPr/>
          <p:nvPr/>
        </p:nvSpPr>
        <p:spPr>
          <a:xfrm>
            <a:off x="8229600" y="5084064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i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patterns: NHS imaging, NLP</a:t>
            </a:r>
            <a:endParaRPr lang="en-US" sz="8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46304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365760" y="260604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Strategies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374904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OvR · OvO · Softmax — each with distinct interpretability, calibration, and computational implications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418320" y="914400"/>
            <a:ext cx="2560320" cy="5029200"/>
          </a:xfrm>
          <a:prstGeom prst="rect">
            <a:avLst/>
          </a:prstGeom>
          <a:solidFill>
            <a:srgbClr val="2E75B6">
              <a:alpha val="30000"/>
            </a:srgbClr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0" y="14630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CAISA™ L1 · Chapter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914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 Multi-Class Classification Strategies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" y="713232"/>
            <a:ext cx="12088368" cy="292608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749808"/>
            <a:ext cx="1170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Softmax: K=50 classes needs 50 classifiers (OvR) vs. 1225 (OvO) vs. 1 model with Softmax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6583680"/>
            <a:ext cx="1216152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6620256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SaamSoft Systems  |  Confidential &amp; Proprietary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82880" y="1115568"/>
            <a:ext cx="3749040" cy="5102352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82880" y="1115568"/>
            <a:ext cx="3749040" cy="47548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117957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One-vs-Rest (OvR)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2608" y="1700784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Classifiers: K classifiers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92608" y="2011680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K uncalibrated scores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92608" y="2505456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92608" y="2724912"/>
            <a:ext cx="3529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single-class models; incremental class addition without full retrain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92608" y="3493008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92608" y="3712464"/>
            <a:ext cx="35295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Probabilities not jointly calibrated — Platt Scaling required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92608" y="4407408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example: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92608" y="4645152"/>
            <a:ext cx="3529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i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Société Générale (FR): 5 credit risk tiers — 5 independent OvR models, each auditable by ACPR individually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4160520" y="1115568"/>
            <a:ext cx="3749040" cy="5102352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60520" y="1115568"/>
            <a:ext cx="3749040" cy="47548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4" name="Text 22"/>
          <p:cNvSpPr/>
          <p:nvPr/>
        </p:nvSpPr>
        <p:spPr>
          <a:xfrm>
            <a:off x="4251960" y="117957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One-vs-One (OvO)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270248" y="1700784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Classifiers: K(K−1)/2 classifiers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270248" y="2011680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Plurality vote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270248" y="2505456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270248" y="2724912"/>
            <a:ext cx="3529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separation of well-defined classes; default SVM strategy in scikit-learn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270248" y="3493008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270248" y="3712464"/>
            <a:ext cx="35295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Quadratic scaling: K=50 → 1,225 classifiers — impractical for large K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270248" y="4407408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example: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270248" y="4645152"/>
            <a:ext cx="3529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i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text classification (legal &amp; insurance firms) where K is small (≤10 categories)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8138160" y="1115568"/>
            <a:ext cx="3749040" cy="5102352"/>
          </a:xfrm>
          <a:prstGeom prst="rect">
            <a:avLst/>
          </a:prstGeom>
          <a:solidFill>
            <a:srgbClr val="FFFFFF"/>
          </a:solidFill>
          <a:ln w="1905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138160" y="1115568"/>
            <a:ext cx="3749040" cy="475488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0" y="117957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Softmax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247888" y="1700784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Classifiers: 1 model, K outputs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247888" y="2011680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Probability distribution Δᴷ (sums to 1)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247888" y="2505456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247888" y="2724912"/>
            <a:ext cx="3529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nets, Gradient Boosting; K moderate–large; jointly calibrated via Temperature Scaling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247888" y="3493008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247888" y="3712464"/>
            <a:ext cx="35295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Temperature Scaling before using probabilities in regulated applications (IFRS 9, Solvency II)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247888" y="4407408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example: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247888" y="4645152"/>
            <a:ext cx="3529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i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Philips Healthcare: 5-class chest X-ray triage (Normal/Pneumonia/Pleural Effusion/Cardiomegaly/Other)</a:t>
            </a:r>
            <a:endParaRPr lang="en-US" sz="8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46304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365760" y="260604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Calibration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374904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Mandated by IFRS 9 · Solvency II · EBA GL/2020/06 · OSFI E-23 · OCC SR 11-7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418320" y="914400"/>
            <a:ext cx="2560320" cy="5029200"/>
          </a:xfrm>
          <a:prstGeom prst="rect">
            <a:avLst/>
          </a:prstGeom>
          <a:solidFill>
            <a:srgbClr val="2E75B6">
              <a:alpha val="30000"/>
            </a:srgbClr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0" y="14630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CAISA™ L1 · Chapter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914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 Probability Calibration Methods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" y="713232"/>
            <a:ext cx="12088368" cy="292608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749808"/>
            <a:ext cx="1170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says P=0.80 should be correct 80% of the time — this is not guaranteed without calibration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6583680"/>
            <a:ext cx="1216152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6620256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SaamSoft Systems  |  Confidential &amp; Proprietary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82880" y="1115568"/>
            <a:ext cx="5760720" cy="2340864"/>
          </a:xfrm>
          <a:prstGeom prst="rect">
            <a:avLst/>
          </a:prstGeom>
          <a:solidFill>
            <a:srgbClr val="FFFFFF"/>
          </a:solidFill>
          <a:ln w="15240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82880" y="1115568"/>
            <a:ext cx="5760720" cy="43891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3" name="Text 11"/>
          <p:cNvSpPr/>
          <p:nvPr/>
        </p:nvSpPr>
        <p:spPr>
          <a:xfrm>
            <a:off x="292608" y="119786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Platt Scaling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2608" y="166420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Fit logistic regression on model scores vs. true labels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92608" y="2048256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Default for SVM, Gradient Boosting; assumes sigmoid relationship between score and probability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92608" y="2633472"/>
            <a:ext cx="5486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by: Credit scoring (ING, Lloyds), fraud scoring (Mastercard)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72200" y="1115568"/>
            <a:ext cx="5760720" cy="2340864"/>
          </a:xfrm>
          <a:prstGeom prst="rect">
            <a:avLst/>
          </a:prstGeom>
          <a:solidFill>
            <a:srgbClr val="FFFFFF"/>
          </a:solidFill>
          <a:ln w="15240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1115568"/>
            <a:ext cx="5760720" cy="43891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9" name="Text 17"/>
          <p:cNvSpPr/>
          <p:nvPr/>
        </p:nvSpPr>
        <p:spPr>
          <a:xfrm>
            <a:off x="6281928" y="119786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Isotonic Regression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81928" y="166420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Fit non-parametric monotone function on scores vs. labels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281928" y="2048256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More flexible; handles non-sigmoid shapes; needs more calibration data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81928" y="2633472"/>
            <a:ext cx="5486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by: Medical risk models (Roche, Philips Health)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82880" y="3566160"/>
            <a:ext cx="5760720" cy="2340864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82880" y="3566160"/>
            <a:ext cx="5760720" cy="43891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5" name="Text 23"/>
          <p:cNvSpPr/>
          <p:nvPr/>
        </p:nvSpPr>
        <p:spPr>
          <a:xfrm>
            <a:off x="292608" y="36484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Scaling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92608" y="41148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Divide logits by scalar T before Softmax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92608" y="4498848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Single-parameter; preserves accuracy; best for neural networks; no per-class adjustment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92608" y="5084064"/>
            <a:ext cx="5486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by: NLP neural nets; multi-class (NHS AI Lab, Philips DenseNet)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72200" y="3566160"/>
            <a:ext cx="5760720" cy="2340864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72200" y="3566160"/>
            <a:ext cx="5760720" cy="43891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1" name="Text 29"/>
          <p:cNvSpPr/>
          <p:nvPr/>
        </p:nvSpPr>
        <p:spPr>
          <a:xfrm>
            <a:off x="6281928" y="36484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Calibration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281928" y="41148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Fit beta distribution to model scores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81928" y="4498848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Handles both under- and over-confidence; flexible; directional calibration possible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81928" y="5084064"/>
            <a:ext cx="5486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by: Insurance pricing where calibration must be directional (AXA, Allianz)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46304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365760" y="260604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Diagnostics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374904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EBA GL/2020/06 · OSFI E-23 · IFRS 9 — mandated validation steps, not optional best practices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418320" y="914400"/>
            <a:ext cx="2560320" cy="5029200"/>
          </a:xfrm>
          <a:prstGeom prst="rect">
            <a:avLst/>
          </a:prstGeom>
          <a:solidFill>
            <a:srgbClr val="2E75B6">
              <a:alpha val="30000"/>
            </a:srgbClr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0" y="14630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CAISA™ L1 · Chapter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914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  Regression Diagnostics — EBA/OSFI/OCC Compliant Workflow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" y="713232"/>
            <a:ext cx="12088368" cy="292608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749808"/>
            <a:ext cx="1170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 violations may not appear in RMSE — but they produce invalid predictions and breach regulatory standards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6583680"/>
            <a:ext cx="1216152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6620256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SaamSoft Systems  |  Confidential &amp; Proprietary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82880" y="1115568"/>
            <a:ext cx="2834640" cy="2304288"/>
          </a:xfrm>
          <a:prstGeom prst="rect">
            <a:avLst/>
          </a:prstGeom>
          <a:solidFill>
            <a:srgbClr val="FFFFFF"/>
          </a:solidFill>
          <a:ln w="15240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82880" y="1115568"/>
            <a:ext cx="2834640" cy="38404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11704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" y="1591056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Residuals vs. fitted plot — should show random horizontal scatter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274320" y="2322576"/>
            <a:ext cx="26517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i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Polynomial/interaction terms; non-linear model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3172968" y="1115568"/>
            <a:ext cx="2834640" cy="2304288"/>
          </a:xfrm>
          <a:prstGeom prst="rect">
            <a:avLst/>
          </a:prstGeom>
          <a:solidFill>
            <a:srgbClr val="FFFFFF"/>
          </a:solidFill>
          <a:ln w="15240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72968" y="1115568"/>
            <a:ext cx="2834640" cy="38404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8" name="Text 16"/>
          <p:cNvSpPr/>
          <p:nvPr/>
        </p:nvSpPr>
        <p:spPr>
          <a:xfrm>
            <a:off x="3264408" y="11704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64408" y="1591056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Durbin-Watson test; ACF/PACF plots — detect autocorrelation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3264408" y="2322576"/>
            <a:ext cx="26517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i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Time-series models (ARIMA, LSTM); add lag features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6163056" y="1115568"/>
            <a:ext cx="2834640" cy="2304288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63056" y="1115568"/>
            <a:ext cx="2834640" cy="3840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3" name="Text 21"/>
          <p:cNvSpPr/>
          <p:nvPr/>
        </p:nvSpPr>
        <p:spPr>
          <a:xfrm>
            <a:off x="6254496" y="11704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Homoscedasticity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54496" y="1591056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Scale-location plot; Breusch-Pagan test — detect variance drift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6254496" y="2322576"/>
            <a:ext cx="26517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i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Log-transform y; Weighted Least Squares (WLS)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9153144" y="1115568"/>
            <a:ext cx="2834640" cy="2304288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153144" y="1115568"/>
            <a:ext cx="2834640" cy="3840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8" name="Text 26"/>
          <p:cNvSpPr/>
          <p:nvPr/>
        </p:nvSpPr>
        <p:spPr>
          <a:xfrm>
            <a:off x="9244584" y="11704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Normality of residuals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244584" y="1591056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QQ plot; Shapiro-Wilk test — detect non-normal residuals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9244584" y="2322576"/>
            <a:ext cx="26517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i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Robust regression; large sample: CLT applies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109728" y="3566160"/>
            <a:ext cx="11960352" cy="2560320"/>
          </a:xfrm>
          <a:prstGeom prst="rect">
            <a:avLst/>
          </a:prstGeom>
          <a:solidFill>
            <a:srgbClr val="F2F2F2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1168" y="3639312"/>
            <a:ext cx="1170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7-Step Diagnostics Workflow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74320" y="4005072"/>
            <a:ext cx="2834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 Collect residuals: e_i = y_i − ŷ_i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55264" y="4005072"/>
            <a:ext cx="2834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 Residuals vs. Fitted Plot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36208" y="4005072"/>
            <a:ext cx="2834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3. QQ Plot (normality)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217152" y="4005072"/>
            <a:ext cx="2834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4. Scale-Location Plot (homoscedasticity)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74320" y="4535424"/>
            <a:ext cx="2834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5. Cook's Distance (D &gt; 4/n = flag)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255264" y="4535424"/>
            <a:ext cx="2834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6. VIF &gt; 10 = collinearity problem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36208" y="4535424"/>
            <a:ext cx="2834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7. PSI by time period &gt; 0.2 = drift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46304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365760" y="260604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Regression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374904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bridge between classification and regression — preserves ordering information that both paradigms discard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418320" y="914400"/>
            <a:ext cx="2560320" cy="5029200"/>
          </a:xfrm>
          <a:prstGeom prst="rect">
            <a:avLst/>
          </a:prstGeom>
          <a:solidFill>
            <a:srgbClr val="2E75B6">
              <a:alpha val="30000"/>
            </a:srgbClr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0" y="14630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CAISA™ L1 · Chapter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914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  Ordinal Regression — Proportional Odds Model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" y="713232"/>
            <a:ext cx="12088368" cy="292608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749808"/>
            <a:ext cx="1170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grades, clinical severity, satisfaction ratings — discrete categories with meaningful natural ordering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6583680"/>
            <a:ext cx="1216152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6620256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SaamSoft Systems  |  Confidential &amp; Proprietary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82880" y="1115568"/>
            <a:ext cx="5669280" cy="502920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82880" y="1115568"/>
            <a:ext cx="5669280" cy="42062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11704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Standard Classification or Regression?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1645920"/>
            <a:ext cx="5486400" cy="1335024"/>
          </a:xfrm>
          <a:prstGeom prst="rect">
            <a:avLst/>
          </a:prstGeom>
          <a:solidFill>
            <a:srgbClr val="F2F2F2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1645920"/>
            <a:ext cx="91440" cy="1335024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" y="1792224"/>
            <a:ext cx="523036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classification treats Low≠High the same as Medium≠High — ordering is ignored. A model penalised equally for being 1 tier wrong vs. 3 tiers wrong learns nothing about the ordering.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072384"/>
            <a:ext cx="5486400" cy="1335024"/>
          </a:xfrm>
          <a:prstGeom prst="rect">
            <a:avLst/>
          </a:prstGeom>
          <a:solidFill>
            <a:srgbClr val="F2F2F2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072384"/>
            <a:ext cx="91440" cy="133502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9" name="Text 17"/>
          <p:cNvSpPr/>
          <p:nvPr/>
        </p:nvSpPr>
        <p:spPr>
          <a:xfrm>
            <a:off x="438912" y="3218688"/>
            <a:ext cx="523036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regression imposes metric structure: assumes Low→Medium distance = Medium→High distance. This is often untrue for risk grades and clinical severity.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4498848"/>
            <a:ext cx="5486400" cy="1335024"/>
          </a:xfrm>
          <a:prstGeom prst="rect">
            <a:avLst/>
          </a:prstGeom>
          <a:solidFill>
            <a:srgbClr val="F2F2F2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4498848"/>
            <a:ext cx="91440" cy="1335024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22" name="Text 20"/>
          <p:cNvSpPr/>
          <p:nvPr/>
        </p:nvSpPr>
        <p:spPr>
          <a:xfrm>
            <a:off x="438912" y="4645152"/>
            <a:ext cx="523036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regression explicitly models cumulative probabilities across ordered thresholds — preserving ordering while allowing unequal distances between categories.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080760" y="1115568"/>
            <a:ext cx="5897880" cy="2377440"/>
          </a:xfrm>
          <a:prstGeom prst="rect">
            <a:avLst/>
          </a:prstGeom>
          <a:solidFill>
            <a:srgbClr val="1F3864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172200" y="1188720"/>
            <a:ext cx="5715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Proportional Odds Model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72200" y="1572768"/>
            <a:ext cx="5715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log(P(Y ≤ k|x) / P(Y &gt; k|x)) = αₖ − β·x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72200" y="2103120"/>
            <a:ext cx="5715000" cy="0"/>
          </a:xfrm>
          <a:prstGeom prst="line">
            <a:avLst/>
          </a:prstGeom>
          <a:noFill/>
          <a:ln w="10160">
            <a:solidFill>
              <a:srgbClr val="C9A22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2194560"/>
            <a:ext cx="57150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k = 1, ..., K−1 (one threshold per adjacent class pair)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slope β — same predictor effect across all thresholds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Brant test validates proportional odds assumption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080760" y="3639312"/>
            <a:ext cx="2834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80760" y="3639312"/>
            <a:ext cx="91440" cy="10972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0" name="Text 28"/>
          <p:cNvSpPr/>
          <p:nvPr/>
        </p:nvSpPr>
        <p:spPr>
          <a:xfrm>
            <a:off x="6245352" y="373075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Société Générale (FR)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45352" y="4023360"/>
            <a:ext cx="2578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grades: Prime → Standard → Sub-prime → Watch-List → Declined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9006840" y="3639312"/>
            <a:ext cx="2834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006840" y="3639312"/>
            <a:ext cx="91440" cy="10972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4" name="Text 32"/>
          <p:cNvSpPr/>
          <p:nvPr/>
        </p:nvSpPr>
        <p:spPr>
          <a:xfrm>
            <a:off x="9171432" y="373075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AXA France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171432" y="4023360"/>
            <a:ext cx="2578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risk tiers: Low → Medium → High → Non-standard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6080760" y="4846320"/>
            <a:ext cx="2834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80760" y="4846320"/>
            <a:ext cx="91440" cy="10972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8" name="Text 36"/>
          <p:cNvSpPr/>
          <p:nvPr/>
        </p:nvSpPr>
        <p:spPr>
          <a:xfrm>
            <a:off x="6245352" y="493776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NHS AI Lab (UK)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245352" y="5230368"/>
            <a:ext cx="2578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severity: Mild → Moderate → Severe → Critical — triage priority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9006840" y="4846320"/>
            <a:ext cx="2834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006840" y="4846320"/>
            <a:ext cx="91440" cy="10972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2" name="Text 40"/>
          <p:cNvSpPr/>
          <p:nvPr/>
        </p:nvSpPr>
        <p:spPr>
          <a:xfrm>
            <a:off x="9171432" y="493776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Lloyd's of London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9171432" y="5230368"/>
            <a:ext cx="2578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Underwriting risk bands: A+ → A → B → C → D — premium setting</a:t>
            </a:r>
            <a:endParaRPr lang="en-US" sz="88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46304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365760" y="260604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Case Studies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374904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organisations — Europe (EU/UK/DE/FR/NL) + United States + Canada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418320" y="914400"/>
            <a:ext cx="2560320" cy="5029200"/>
          </a:xfrm>
          <a:prstGeom prst="rect">
            <a:avLst/>
          </a:prstGeom>
          <a:solidFill>
            <a:srgbClr val="2E75B6">
              <a:alpha val="30000"/>
            </a:srgbClr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0" y="14630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CAISA™ L1 · Chapter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914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Société Générale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" y="713232"/>
            <a:ext cx="12088368" cy="292608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749808"/>
            <a:ext cx="1170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 France — Europe  |  Retail Banking | Ordinal Credit Risk Classification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6583680"/>
            <a:ext cx="1216152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6620256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SaamSoft Systems  |  Confidential &amp; Proprietary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37160" y="1115568"/>
            <a:ext cx="8686800" cy="118872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1887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28600" y="1444752"/>
            <a:ext cx="8412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classification: assign 30M+ retail applicants to 5 risk grades (Prime/Standard/Sub-prime/Watch-List/Declined). Ordinal because grades have natural ordering from lowest to highest credit risk.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137160" y="2368296"/>
            <a:ext cx="86868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244144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Approach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28600" y="2697480"/>
            <a:ext cx="8412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(OvR, 5 binary models) as production; Proportional Odds as regulatory baseline. Features: income, FIBEN credit bureau data, PSD2 open banking, INSEE consumer confidence, French unemployment rate.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137160" y="3621024"/>
            <a:ext cx="8686800" cy="118872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369417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&amp; Evaluation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8600" y="3950208"/>
            <a:ext cx="8412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ordinal loss — 3× penalty for predictions &gt;1 grade wrong. Ordinal accuracy (±1 grade), Spearman rank correlation, IFRS 9 stage migration accuracy. ACPR reviews PD calibration annually.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137160" y="4873752"/>
            <a:ext cx="86868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494690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Fit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28600" y="5202936"/>
            <a:ext cx="8412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Annex III high-risk. IFRS 9 ECL staging depends on grade migration. SHAP values per grade available to credit officers. Annex IV documentation required for ACPR review.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9006840" y="1115568"/>
            <a:ext cx="3017520" cy="5193792"/>
          </a:xfrm>
          <a:prstGeom prst="rect">
            <a:avLst/>
          </a:prstGeom>
          <a:solidFill>
            <a:srgbClr val="1F3864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098280" y="12070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098280" y="1572768"/>
            <a:ext cx="2834640" cy="0"/>
          </a:xfrm>
          <a:prstGeom prst="line">
            <a:avLst/>
          </a:prstGeom>
          <a:noFill/>
          <a:ln w="10160">
            <a:solidFill>
              <a:srgbClr val="C9A22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98280" y="1773936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9098280" y="2414016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accuracy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9098280" y="3282696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9098280" y="3922776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coefficient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098280" y="4791456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+14%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9098280" y="5431536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 9 stage migration accuracy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0" y="14630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CAISA™ L1 · Chapter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914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AXA France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" y="713232"/>
            <a:ext cx="12088368" cy="292608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749808"/>
            <a:ext cx="1170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 France — Europe  |  Insurance | Claims Severity Regression (Tweedie Loss)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6583680"/>
            <a:ext cx="1216152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6620256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SaamSoft Systems  |  Confidential &amp; Proprietary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37160" y="1115568"/>
            <a:ext cx="8686800" cy="118872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1887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28600" y="1444752"/>
            <a:ext cx="8412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pipeline: (1) Binary classification — will a claim occur? (2) Regression — given a claim, what is the severity in €? Combined as 'two-part model' for pure premium.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137160" y="2368296"/>
            <a:ext cx="86868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244144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Approach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28600" y="2697480"/>
            <a:ext cx="8412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XGBoost (Binary Cross-Entropy). Stage 2: XGBoost with Tweedie loss (compound Poisson-Gamma). Handles zero-inflated, heavy-tailed claim severities. Features: vehicle age, driver history, postcode zone, telematics.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137160" y="3621024"/>
            <a:ext cx="8686800" cy="118872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369417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8600" y="3950208"/>
            <a:ext cx="8412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Tweedie: L = (ŷᵖ/p − y·ŷᵖ⁻¹/(p−1)), p ∈ (1,2) fitted from data. p→1 = Poisson (frequency), p→2 = Gamma (severity). EU Gender Directive: age/gender excluded from motor pricing.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137160" y="4873752"/>
            <a:ext cx="86868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494690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28600" y="5202936"/>
            <a:ext cx="8412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ratio: 62.8% → 58.6% (−4.2pp). Solvency II SCR ratio 214% vs. industry median 188%. Tweedie Gini 0.68 vs. two-stage 0.61 with lower operational complexity.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9006840" y="1115568"/>
            <a:ext cx="3017520" cy="5193792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098280" y="12070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098280" y="1572768"/>
            <a:ext cx="2834640" cy="0"/>
          </a:xfrm>
          <a:prstGeom prst="line">
            <a:avLst/>
          </a:prstGeom>
          <a:noFill/>
          <a:ln w="10160">
            <a:solidFill>
              <a:srgbClr val="C9A22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98280" y="1773936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−4.2pp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9098280" y="2414016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ratio improvement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9098280" y="3282696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214%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9098280" y="3922776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Solvency II SCR ratio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098280" y="4791456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9098280" y="5431536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coefficient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0" y="14630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CAISA™ L1 · Chapter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914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Zalando SE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" y="713232"/>
            <a:ext cx="12088368" cy="292608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749808"/>
            <a:ext cx="1170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🇩🇪  Germany — Europe  |  E-Commerce | Multi-Output Demand Regression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6583680"/>
            <a:ext cx="1216152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6620256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SaamSoft Systems  |  Confidential &amp; Proprietary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37160" y="1115568"/>
            <a:ext cx="8686800" cy="118872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1887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28600" y="1444752"/>
            <a:ext cx="8412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Multi-output regression: predict daily demand (units/SKU/warehouse) for 600K+ SKUs across 5 EU fulfilment centres with 14-day horizon = 8.4 million continuous values simultaneously.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137160" y="2368296"/>
            <a:ext cx="86868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244144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Approach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28600" y="2697480"/>
            <a:ext cx="8412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LightGBM (Tweedie loss, p=1.2) at SKU level, aggregated via bottom-up reconciliation. Features: lagged sales (7/14/28/90d), seasonality, price elasticity, promotional calendar, weather.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137160" y="3621024"/>
            <a:ext cx="8686800" cy="118872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369417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&amp; Evaluation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8600" y="3950208"/>
            <a:ext cx="8412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Tweedie (p=1.2): intermittent demand with many zeros (slow-movers) follows compound Poisson process. sMAPE as business metric. Weekly PSI on feature distributions. A/B vs ARIMA baseline.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137160" y="4873752"/>
            <a:ext cx="86868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494690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Fit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28600" y="5202936"/>
            <a:ext cx="8412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 Works Council (Betriebsrat) consultation required for algorithmic systems affecting warehouse workforce decisions. GDPR Art. 6(1)(b).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9006840" y="1115568"/>
            <a:ext cx="3017520" cy="5193792"/>
          </a:xfrm>
          <a:prstGeom prst="rect">
            <a:avLst/>
          </a:prstGeom>
          <a:solidFill>
            <a:srgbClr val="2E75B6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098280" y="12070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098280" y="1572768"/>
            <a:ext cx="2834640" cy="0"/>
          </a:xfrm>
          <a:prstGeom prst="line">
            <a:avLst/>
          </a:prstGeom>
          <a:noFill/>
          <a:ln w="10160">
            <a:solidFill>
              <a:srgbClr val="C9A22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98280" y="1773936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−18%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9098280" y="2414016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 rate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9098280" y="3282696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€85M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9098280" y="3922776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margin benefit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098280" y="4791456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28%→19%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9098280" y="5431536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sMAPE improvement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0" y="14630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CAISA™ L1 · Chapter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914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Philips Healthcare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" y="713232"/>
            <a:ext cx="12088368" cy="292608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749808"/>
            <a:ext cx="1170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🇳🇱  Netherlands — Europe  |  Medical Devices | Multi-Class Chest X-Ray Classification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6583680"/>
            <a:ext cx="1216152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6620256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SaamSoft Systems  |  Confidential &amp; Proprietary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37160" y="1115568"/>
            <a:ext cx="8686800" cy="118872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1887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28600" y="1444752"/>
            <a:ext cx="8412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classification: triage chest X-rays into 5 categories (Normal/Pneumonia/Pleural Effusion/Cardiomegaly/Other) to prioritise radiologist review queue at hospitals in NL, BE, DE.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137160" y="2368296"/>
            <a:ext cx="86868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244144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Approach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28600" y="2697480"/>
            <a:ext cx="8412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DenseNet-121 CNN with native Softmax, pre-trained on CheXpert (224K X-rays), fine-tuned on EU clinical data. Focal Cross-Entropy (γ=2): Normal cases = 60% volume. Temperature Scaling calibration post-training.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137160" y="3621024"/>
            <a:ext cx="8686800" cy="118872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369417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&amp; Evaluation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8600" y="3950208"/>
            <a:ext cx="8412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Loss down-weights easy Normal cases, focuses training on rare conditions. Per-class AUC-ROC (EU MDR requirement). Sensitivity ≥ 90% for Pneumonia/Cardiomegaly. External validation across 3 countries.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137160" y="4873752"/>
            <a:ext cx="86868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494690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Fit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28600" y="5202936"/>
            <a:ext cx="8412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MDR 2017/745 Class IIa Medical Device Software. CE marked via TÜV Notified Body. GDPR Art. 9 special category health data. Human radiologist review mandatory.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9006840" y="1115568"/>
            <a:ext cx="3017520" cy="5193792"/>
          </a:xfrm>
          <a:prstGeom prst="rect">
            <a:avLst/>
          </a:prstGeom>
          <a:solidFill>
            <a:srgbClr val="0E6655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098280" y="12070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098280" y="1572768"/>
            <a:ext cx="2834640" cy="0"/>
          </a:xfrm>
          <a:prstGeom prst="line">
            <a:avLst/>
          </a:prstGeom>
          <a:noFill/>
          <a:ln w="10160">
            <a:solidFill>
              <a:srgbClr val="C9A22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98280" y="1773936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−44%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9098280" y="2414016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Radiologist triage time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9098280" y="3282696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93.2%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9098280" y="3922776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critical findings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098280" y="4791456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9098280" y="5431536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2022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0" y="14630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CAISA™ L1 · Chapter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914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National Grid ESO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" y="713232"/>
            <a:ext cx="12088368" cy="292608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749808"/>
            <a:ext cx="1170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🇬🇧  United Kingdom — Europe  |  Energy | Time-Series Electricity Demand Regression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6583680"/>
            <a:ext cx="1216152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6620256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SaamSoft Systems  |  Confidential &amp; Proprietary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37160" y="1115568"/>
            <a:ext cx="8686800" cy="118872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1887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28600" y="1444752"/>
            <a:ext cx="8412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Multi-horizon time-series regression: predict electricity demand (MW) at 30-minute intervals across 48 forecast horizons (0–24h ahead). Directly drives Balancing Mechanism dispatch and REMIT compliance.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137160" y="2368296"/>
            <a:ext cx="86868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244144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Approach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28600" y="2697480"/>
            <a:ext cx="8412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48 LightGBM regressors (one per horizon) with Huber loss (δ=150MW), combined with physics-informed weather-adjusted baseline. Features: lagged demand, Met Office forecast, day type, event indicators.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137160" y="3621024"/>
            <a:ext cx="8686800" cy="118872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369417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8600" y="3950208"/>
            <a:ext cx="8412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Huber (δ=150MW): balances MSE sensitivity to extreme weather outliers with appropriate penalisation of large grid-imbalance errors. δ calibrated via grid search on validation set.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137160" y="4873752"/>
            <a:ext cx="86868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494690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Fit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28600" y="5202936"/>
            <a:ext cx="8412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REMIT: forecasting models must not create systematic information asymmetries. Ofgem annual validation required. Systematic bias could trigger market manipulation investigation.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9006840" y="1115568"/>
            <a:ext cx="3017520" cy="5193792"/>
          </a:xfrm>
          <a:prstGeom prst="rect">
            <a:avLst/>
          </a:prstGeom>
          <a:solidFill>
            <a:srgbClr val="1F3864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098280" y="12070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098280" y="1572768"/>
            <a:ext cx="2834640" cy="0"/>
          </a:xfrm>
          <a:prstGeom prst="line">
            <a:avLst/>
          </a:prstGeom>
          <a:noFill/>
          <a:ln w="10160">
            <a:solidFill>
              <a:srgbClr val="C9A22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98280" y="1773936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1.2%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9098280" y="2414016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Day-ahead MAE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9098280" y="3282696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£180M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9098280" y="3922776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balancing saving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098280" y="4791456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0.4%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9098280" y="5431536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 ahead MAE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0" y="14630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CAISA™ L1 · Chapter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914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Wells Fargo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" y="713232"/>
            <a:ext cx="12088368" cy="292608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749808"/>
            <a:ext cx="1170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 United States  |  Retail Banking | Binary HELOC Default Classification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6583680"/>
            <a:ext cx="1216152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6620256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SaamSoft Systems  |  Confidential &amp; Proprietary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37160" y="1115568"/>
            <a:ext cx="8686800" cy="118872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1887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28600" y="1444752"/>
            <a:ext cx="8412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classification: predict HELOC borrower default (90+ DPD) within 24 months. Class imbalance: ~4.5% default rate. Used for underwriting and portfolio risk monitoring.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137160" y="2368296"/>
            <a:ext cx="86868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244144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Approach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28600" y="2697480"/>
            <a:ext cx="8412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(baseline) + Random Forest (production). Features: FICO, combined LTV, utilisation, 24-month payment history, employment, income, AVM, US unemployment, Case-Shiller HPI, Fed Funds rate.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137160" y="3621024"/>
            <a:ext cx="8686800" cy="118872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369417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8600" y="3950208"/>
            <a:ext cx="8412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Class-weighted BCE: w₀=1.0, w₁=12.0. Derived from business cost analysis: missed default (FN) cost ≈ 8× declined-but-creditworthy (FP) cost ($85K LGD vs. $12K opportunity cost).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137160" y="4873752"/>
            <a:ext cx="86868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494690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Fit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28600" y="5202936"/>
            <a:ext cx="8412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 SR 11-7 model risk management. CFPB Reg B adverse action notices. ECOA/HMDA fair lending. Disparate impact testing by race, national origin, sex. 100% ECOA-compliant denial reasons generated.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9006840" y="1115568"/>
            <a:ext cx="3017520" cy="5193792"/>
          </a:xfrm>
          <a:prstGeom prst="rect">
            <a:avLst/>
          </a:prstGeom>
          <a:solidFill>
            <a:srgbClr val="1F3864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098280" y="12070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098280" y="1572768"/>
            <a:ext cx="2834640" cy="0"/>
          </a:xfrm>
          <a:prstGeom prst="line">
            <a:avLst/>
          </a:prstGeom>
          <a:noFill/>
          <a:ln w="10160">
            <a:solidFill>
              <a:srgbClr val="C9A22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98280" y="1773936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9098280" y="2414016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(vs 0.74 baseline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9098280" y="3282696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$240M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9098280" y="3922776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credit loss reduction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098280" y="4791456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9098280" y="5431536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ECOA-compliant adverse actions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0" y="14630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CAISA™ L1 · Chapter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914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Royal Bank of Canada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" y="713232"/>
            <a:ext cx="12088368" cy="292608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749808"/>
            <a:ext cx="1170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🇨🇦  Canada  |  Retail Banking | Mortgage Prepayment Regression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6583680"/>
            <a:ext cx="1216152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6620256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SaamSoft Systems  |  Confidential &amp; Proprietary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37160" y="1115568"/>
            <a:ext cx="8686800" cy="118872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1887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28600" y="1444752"/>
            <a:ext cx="8412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Regression: predict conditional prepayment probability over 12 months for CAD $360B mortgage portfolio. Used for ALM (Asset-Liability Management) and MBS pricing.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137160" y="2368296"/>
            <a:ext cx="86868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244144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Approach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28600" y="2697480"/>
            <a:ext cx="8412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regression (Huber loss) + Cox Proportional Hazards baseline. Primary feature: rate incentive (current rate vs. market). Also: LTV, remaining term, province, yield curve (BoC policy rate, 5Y bond).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137160" y="3621024"/>
            <a:ext cx="8686800" cy="118872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369417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8600" y="3950208"/>
            <a:ext cx="8412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Huber (δ=0.05): each 1% prediction error = ~CAD $3.6M ALM duration mismatch. Outlier rate spikes should not dominate training — Huber over MSE.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137160" y="4873752"/>
            <a:ext cx="86868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494690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Fit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28600" y="5202936"/>
            <a:ext cx="8412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OSFI B-20: underpins mortgage prepayment stress tests. OSFI E-23: second-line independent validation required. CDIC stress testing uses this model as systemic risk input.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9006840" y="1115568"/>
            <a:ext cx="3017520" cy="5193792"/>
          </a:xfrm>
          <a:prstGeom prst="rect">
            <a:avLst/>
          </a:prstGeom>
          <a:solidFill>
            <a:srgbClr val="2E4053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098280" y="12070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098280" y="1572768"/>
            <a:ext cx="2834640" cy="0"/>
          </a:xfrm>
          <a:prstGeom prst="line">
            <a:avLst/>
          </a:prstGeom>
          <a:noFill/>
          <a:ln w="10160">
            <a:solidFill>
              <a:srgbClr val="C9A22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98280" y="1773936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2.1%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9098280" y="2414016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(vs 3.8% baseline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9098280" y="3282696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9098280" y="3922776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098280" y="4791456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−18bp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9098280" y="5431536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 duration mismatch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0" y="14630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CAISA™ L1 · Chapter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914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UnitedHealth / Optum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" y="713232"/>
            <a:ext cx="12088368" cy="292608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749808"/>
            <a:ext cx="1170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 United States  |  Healthcare | Medical Cost Two-Stage Pipeline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6583680"/>
            <a:ext cx="1216152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6620256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SaamSoft Systems  |  Confidential &amp; Proprietary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37160" y="1115568"/>
            <a:ext cx="8686800" cy="118872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1887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28600" y="1444752"/>
            <a:ext cx="8412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Two-stage: (1) Binary classification — high-cost event (hospitalisation/ER) in next 6 months? (2) Regression — expected annual medical cost (USD). Classifier gates entry to cost regression model.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137160" y="2368296"/>
            <a:ext cx="86868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244144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Approach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28600" y="2697480"/>
            <a:ext cx="8412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XGBoost (Focal Loss γ=2, ~8% high-cost rate). Stage 2: Log-normal regression on log(medical cost) — standard because costs follow log-normal distribution (right-skewed, long tail). Features: prior utilisation, ICD-10 codes, SDoH indicators.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137160" y="3621024"/>
            <a:ext cx="8686800" cy="118872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369417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8600" y="3950208"/>
            <a:ext cx="8412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MSE on log(cost) = minimise multiplicative error — appropriate because error cost scales proportionally with cost level. Stage 1: Focal Loss for 8% class imbalance.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137160" y="4873752"/>
            <a:ext cx="86868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494690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Fit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28600" y="5202936"/>
            <a:ext cx="8412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BAAs. CMS Medicare Advantage risk adjustment audit. ACA Section 1557 anti-discrimination. FTC Section 5 unfair/deceptive practices applies to algorithmic health decisions.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9006840" y="1115568"/>
            <a:ext cx="3017520" cy="5193792"/>
          </a:xfrm>
          <a:prstGeom prst="rect">
            <a:avLst/>
          </a:prstGeom>
          <a:solidFill>
            <a:srgbClr val="1A5276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098280" y="12070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098280" y="1572768"/>
            <a:ext cx="2834640" cy="0"/>
          </a:xfrm>
          <a:prstGeom prst="line">
            <a:avLst/>
          </a:prstGeom>
          <a:noFill/>
          <a:ln w="10160">
            <a:solidFill>
              <a:srgbClr val="C9A22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98280" y="1773936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9098280" y="2414016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High-cost event AUC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9098280" y="3282696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$420M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9098280" y="3922776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care management saving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098280" y="4791456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−11%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9098280" y="5431536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Avoidable hospitalisation rate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0" y="14630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CAISA™ L1 · Chapter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914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  Chapter Summary — Key Takeaways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" y="713232"/>
            <a:ext cx="12088368" cy="292608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749808"/>
            <a:ext cx="1170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vs. regression is the first and most consequential architectural decision in every supervised ML system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6583680"/>
            <a:ext cx="1216152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6620256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SaamSoft Systems  |  Confidential &amp; Proprietary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82880" y="1115568"/>
            <a:ext cx="57607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82880" y="1115568"/>
            <a:ext cx="566928" cy="10972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" y="13898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41248" y="1261872"/>
            <a:ext cx="5010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space determines architecture. Regression → distance loss. Classification → cross-entropy + threshold.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72200" y="1115568"/>
            <a:ext cx="57607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1115568"/>
            <a:ext cx="566928" cy="10972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0" y="13898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830568" y="1261872"/>
            <a:ext cx="5010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 = operationalised business objective. Never default without interrogating cost structure.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82880" y="2322576"/>
            <a:ext cx="57607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82880" y="2322576"/>
            <a:ext cx="566928" cy="10972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1" name="Text 19"/>
          <p:cNvSpPr/>
          <p:nvPr/>
        </p:nvSpPr>
        <p:spPr>
          <a:xfrm>
            <a:off x="182880" y="2596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41248" y="2468880"/>
            <a:ext cx="5010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boundaries are a regulatory communication tool. Document boundary type in EU AI Act Annex IV.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72200" y="2322576"/>
            <a:ext cx="57607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72200" y="2322576"/>
            <a:ext cx="566928" cy="10972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5" name="Text 23"/>
          <p:cNvSpPr/>
          <p:nvPr/>
        </p:nvSpPr>
        <p:spPr>
          <a:xfrm>
            <a:off x="6172200" y="2596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830568" y="2468880"/>
            <a:ext cx="5010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strategy (OvR/OvO/Softmax) affects interpretability, calibration, and compute — choose deliberately.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82880" y="3529584"/>
            <a:ext cx="57607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050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82880" y="3529584"/>
            <a:ext cx="566928" cy="1097280"/>
          </a:xfrm>
          <a:prstGeom prst="rect">
            <a:avLst/>
          </a:prstGeom>
          <a:solidFill>
            <a:srgbClr val="205070"/>
          </a:solidFill>
          <a:ln/>
        </p:spPr>
      </p:sp>
      <p:sp>
        <p:nvSpPr>
          <p:cNvPr id="29" name="Text 27"/>
          <p:cNvSpPr/>
          <p:nvPr/>
        </p:nvSpPr>
        <p:spPr>
          <a:xfrm>
            <a:off x="182880" y="38039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841248" y="3675888"/>
            <a:ext cx="5010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calibration is mandated: IFRS 9, Solvency II, EBA GL/2020/06, OSFI E-23, OCC SR 11-7.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72200" y="3529584"/>
            <a:ext cx="57607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050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72200" y="3529584"/>
            <a:ext cx="566928" cy="1097280"/>
          </a:xfrm>
          <a:prstGeom prst="rect">
            <a:avLst/>
          </a:prstGeom>
          <a:solidFill>
            <a:srgbClr val="205070"/>
          </a:solidFill>
          <a:ln/>
        </p:spPr>
      </p:sp>
      <p:sp>
        <p:nvSpPr>
          <p:cNvPr id="33" name="Text 31"/>
          <p:cNvSpPr/>
          <p:nvPr/>
        </p:nvSpPr>
        <p:spPr>
          <a:xfrm>
            <a:off x="6172200" y="38039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830568" y="3675888"/>
            <a:ext cx="5010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diagnostics (residual analysis, QQ, VIF, PSI) are mandated validation steps, not optional.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82880" y="4736592"/>
            <a:ext cx="57607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82880" y="4736592"/>
            <a:ext cx="566928" cy="10972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7" name="Text 35"/>
          <p:cNvSpPr/>
          <p:nvPr/>
        </p:nvSpPr>
        <p:spPr>
          <a:xfrm>
            <a:off x="182880" y="5010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841248" y="4882896"/>
            <a:ext cx="5010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regression preserves ordering — deploy it for risk tiers and clinical severity problems.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172200" y="4736592"/>
            <a:ext cx="57607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72200" y="4736592"/>
            <a:ext cx="566928" cy="10972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41" name="Text 39"/>
          <p:cNvSpPr/>
          <p:nvPr/>
        </p:nvSpPr>
        <p:spPr>
          <a:xfrm>
            <a:off x="6172200" y="5010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6830568" y="4882896"/>
            <a:ext cx="5010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pipelines (classifier gates regressor) are standard for insurance, healthcare cost, fraud severity.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9984"/>
            <a:ext cx="12161520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28016"/>
            <a:ext cx="164592" cy="660196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371600"/>
            <a:ext cx="11430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Complete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365760" y="2578608"/>
            <a:ext cx="822960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688336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vs. Regression — Deep Dive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3493008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895344"/>
            <a:ext cx="11430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Chapter 4: Linear &amp; Logistic Regression in Enterprise (Deep Dive)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4370832"/>
            <a:ext cx="11430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Chapter 5: Tree-Based Methods — Decision Trees, Random Forests &amp; Gradient Boosting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4846320"/>
            <a:ext cx="11430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Chapter 6: Neural Networks — Foundations and Enterprise Architecture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6236208"/>
            <a:ext cx="1143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CAISA™ Level 1  |  Chapter 3 of 48  |  © SaamSoft Systems — All Rights Reserved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CAISA L1 Chapter 3: Classification vs. Regression — Deep Dive</dc:title>
  <dc:subject>PptxGenJS Presentation</dc:subject>
  <dc:creator>SaamSoft Systems</dc:creator>
  <cp:lastModifiedBy>SaamSoft Systems</cp:lastModifiedBy>
  <cp:revision>1</cp:revision>
  <dcterms:created xsi:type="dcterms:W3CDTF">2026-02-18T11:14:50Z</dcterms:created>
  <dcterms:modified xsi:type="dcterms:W3CDTF">2026-02-18T11:14:50Z</dcterms:modified>
</cp:coreProperties>
</file>