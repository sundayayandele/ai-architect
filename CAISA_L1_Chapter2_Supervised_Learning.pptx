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9984"/>
            <a:ext cx="12161520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28016"/>
            <a:ext cx="164592" cy="660196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457200"/>
            <a:ext cx="2926080" cy="822960"/>
          </a:xfrm>
          <a:prstGeom prst="rect">
            <a:avLst/>
          </a:prstGeom>
          <a:solidFill>
            <a:srgbClr val="2E75B6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502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 Level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868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Foundations Architect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052560" y="457200"/>
            <a:ext cx="2926080" cy="822960"/>
          </a:xfrm>
          <a:prstGeom prst="rect">
            <a:avLst/>
          </a:prstGeom>
          <a:solidFill>
            <a:srgbClr val="C9A227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052560" y="502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OF 48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052560" y="868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I: ML Foundations  ·  Week 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1554480"/>
            <a:ext cx="11521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endParaRPr lang="en-US" sz="6200" dirty="0"/>
          </a:p>
        </p:txBody>
      </p:sp>
      <p:sp>
        <p:nvSpPr>
          <p:cNvPr id="12" name="Text 10"/>
          <p:cNvSpPr/>
          <p:nvPr/>
        </p:nvSpPr>
        <p:spPr>
          <a:xfrm>
            <a:off x="365760" y="2651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6200" dirty="0"/>
          </a:p>
        </p:txBody>
      </p:sp>
      <p:sp>
        <p:nvSpPr>
          <p:cNvPr id="13" name="Shape 11"/>
          <p:cNvSpPr/>
          <p:nvPr/>
        </p:nvSpPr>
        <p:spPr>
          <a:xfrm>
            <a:off x="365760" y="3749040"/>
            <a:ext cx="86868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8587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ML in Practice: Europe · UK · United States · Canada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" y="4572000"/>
            <a:ext cx="4389120" cy="548640"/>
          </a:xfrm>
          <a:prstGeom prst="rect">
            <a:avLst/>
          </a:prstGeom>
          <a:solidFill>
            <a:srgbClr val="163359"/>
          </a:solidFill>
          <a:ln w="1016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663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Study Time: 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828800" y="4663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 Hours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0" y="4572000"/>
            <a:ext cx="4389120" cy="548640"/>
          </a:xfrm>
          <a:prstGeom prst="rect">
            <a:avLst/>
          </a:prstGeom>
          <a:solidFill>
            <a:srgbClr val="163359"/>
          </a:solidFill>
          <a:ln w="1016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4663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Format: 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92240" y="4663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+ Examples + Concept Checks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5230368"/>
            <a:ext cx="4389120" cy="548640"/>
          </a:xfrm>
          <a:prstGeom prst="rect">
            <a:avLst/>
          </a:prstGeom>
          <a:solidFill>
            <a:srgbClr val="163359"/>
          </a:solidFill>
          <a:ln w="1016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53218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Jurisdictions: 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828800" y="53218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· UK · US · Canada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0" y="5230368"/>
            <a:ext cx="4389120" cy="548640"/>
          </a:xfrm>
          <a:prstGeom prst="rect">
            <a:avLst/>
          </a:prstGeom>
          <a:solidFill>
            <a:srgbClr val="163359"/>
          </a:solidFill>
          <a:ln w="10160">
            <a:solidFill>
              <a:srgbClr val="2E75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53218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Position: 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92240" y="53218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|  Chapter 2 of 48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1463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L1 · Chapter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" y="713232"/>
            <a:ext cx="12088368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49808"/>
            <a:ext cx="1170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chapter you will be able to: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66202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SaamSoft Systems  |  Confidential &amp; Proprietary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28600" y="1115568"/>
            <a:ext cx="5669280" cy="5120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Define supervised learning and distinguish it from other ML paradigms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Identify regression vs. classification and select the appropriate family for a given business scenario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Describe the 7-stage supervised ML pipeline end-to-end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Explain the role of the loss function and how gradient-based optimisation minimises it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Interpret train/validation/test splits and justify their use in preventing data leakage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126480" y="1115568"/>
            <a:ext cx="5669280" cy="5120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Recognise 8 core supervised algorithms and map each to its enterprise context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Explain the bias–variance tradeoff and describe management techniques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Select evaluation metrics aligned with the business cost structure of a problem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Analyse 5 enterprise case studies spanning Europe, US, and Canada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Apply regulatory frameworks: EU AI Act · GDPR · FCA SS1/23 · OSFI E-23 · OCC SR 11-7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9728" y="6126480"/>
            <a:ext cx="11978640" cy="50292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" y="6126480"/>
            <a:ext cx="91440" cy="5029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6144768"/>
            <a:ext cx="1175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Chapter Focus: Supervised learning is the dominant ML paradigm in regulated enterprise environments. Fluency in this vocabulary is the foundation of all CAISA curriculum content.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" y="2560320"/>
            <a:ext cx="868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Supervised Learning?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3749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paradigm, the objective function, and where it fits in the ML taxonomy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01200" y="1097280"/>
            <a:ext cx="2377440" cy="4754880"/>
          </a:xfrm>
          <a:prstGeom prst="rect">
            <a:avLst/>
          </a:prstGeom>
          <a:solidFill>
            <a:srgbClr val="2E75B6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1280160"/>
            <a:ext cx="2194560" cy="4389120"/>
          </a:xfrm>
          <a:prstGeom prst="rect">
            <a:avLst/>
          </a:prstGeom>
          <a:solidFill>
            <a:srgbClr val="2E75B6">
              <a:alpha val="40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1463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L1 · Chapter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The Supervised Learning Problem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" y="713232"/>
            <a:ext cx="12088368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49808"/>
            <a:ext cx="1170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on labelled examples (x, y) to learn a generalised mapping f(x) ≈ 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66202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SaamSoft Systems  |  Confidential &amp; Proprietary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82880" y="1115568"/>
            <a:ext cx="5943600" cy="210312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1115568"/>
            <a:ext cx="91440" cy="21031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1887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1481328"/>
            <a:ext cx="5577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algorithm is trained on labelled examples (x, y) — where x is a feature vector and y is the known target — with the goal of learning a generalised mapping function f such that f(x) ≈ y for previously unseen inputs.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labelled training data acts as a teacher, allowing the algorithm to adjust internal parameters until predictions are sufficiently accurate.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0" y="1115568"/>
            <a:ext cx="5577840" cy="2103120"/>
          </a:xfrm>
          <a:prstGeom prst="rect">
            <a:avLst/>
          </a:prstGeom>
          <a:solidFill>
            <a:srgbClr val="1F3864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37960" y="11887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Objective Function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37960" y="16002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f* = argmin(f ∈ H)  E[L(y, f(x))]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37960" y="2148840"/>
            <a:ext cx="5303520" cy="0"/>
          </a:xfrm>
          <a:prstGeom prst="line">
            <a:avLst/>
          </a:prstGeom>
          <a:noFill/>
          <a:ln w="1016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240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95160" y="2240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Loss function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89720" y="2240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46920" y="2240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Model prediction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37960" y="2606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9516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True label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89720" y="2606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4692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Expectation over P(X,Y)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2880" y="3429000"/>
            <a:ext cx="2834640" cy="1508760"/>
          </a:xfrm>
          <a:prstGeom prst="rect">
            <a:avLst/>
          </a:prstGeom>
          <a:solidFill>
            <a:srgbClr val="1F3864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82880" y="3429000"/>
            <a:ext cx="2834640" cy="347472"/>
          </a:xfrm>
          <a:prstGeom prst="rect">
            <a:avLst/>
          </a:prstGeom>
          <a:solidFill>
            <a:srgbClr val="C9A227">
              <a:alpha val="9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34655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3840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Labelled (X,Y)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4320" y="4169664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scoring, fraud detection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172968" y="3429000"/>
            <a:ext cx="2834640" cy="1508760"/>
          </a:xfrm>
          <a:prstGeom prst="rect">
            <a:avLst/>
          </a:prstGeom>
          <a:solidFill>
            <a:srgbClr val="2E75B6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72968" y="3429000"/>
            <a:ext cx="2834640" cy="347472"/>
          </a:xfrm>
          <a:prstGeom prst="rect">
            <a:avLst/>
          </a:prstGeom>
          <a:solidFill>
            <a:srgbClr val="C9A227">
              <a:alpha val="9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264408" y="34655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64408" y="3840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Unlabelled X only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64408" y="4169664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segmentation, anomaly detection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63056" y="3429000"/>
            <a:ext cx="2834640" cy="1508760"/>
          </a:xfrm>
          <a:prstGeom prst="rect">
            <a:avLst/>
          </a:prstGeom>
          <a:solidFill>
            <a:srgbClr val="205070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63056" y="3429000"/>
            <a:ext cx="2834640" cy="347472"/>
          </a:xfrm>
          <a:prstGeom prst="rect">
            <a:avLst/>
          </a:prstGeom>
          <a:solidFill>
            <a:srgbClr val="C9A227">
              <a:alpha val="9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254496" y="34655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Semi-supervised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54496" y="3840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Small labelled + large unlabelled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54496" y="4169664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 (Philips)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153144" y="3429000"/>
            <a:ext cx="2834640" cy="1508760"/>
          </a:xfrm>
          <a:prstGeom prst="rect">
            <a:avLst/>
          </a:prstGeom>
          <a:solidFill>
            <a:srgbClr val="163050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153144" y="3429000"/>
            <a:ext cx="2834640" cy="347472"/>
          </a:xfrm>
          <a:prstGeom prst="rect">
            <a:avLst/>
          </a:prstGeom>
          <a:solidFill>
            <a:srgbClr val="C9A227">
              <a:alpha val="9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9244584" y="34655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244584" y="3840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Reward from environment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244584" y="4169664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(Citadel), robotics (ABB)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" y="2560320"/>
            <a:ext cx="868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vs. Classification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3749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fundamental problem families — every architectural decision flows from this choice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01200" y="1097280"/>
            <a:ext cx="2377440" cy="4754880"/>
          </a:xfrm>
          <a:prstGeom prst="rect">
            <a:avLst/>
          </a:prstGeom>
          <a:solidFill>
            <a:srgbClr val="2E75B6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1280160"/>
            <a:ext cx="2194560" cy="4389120"/>
          </a:xfrm>
          <a:prstGeom prst="rect">
            <a:avLst/>
          </a:prstGeom>
          <a:solidFill>
            <a:srgbClr val="2E75B6">
              <a:alpha val="40000"/>
            </a:srgbClr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1463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L1 · Chapter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The Two Problem Families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" y="713232"/>
            <a:ext cx="12088368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49808"/>
            <a:ext cx="1170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variable y determines the entire downstream architecture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66202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SaamSoft Systems  |  Confidential &amp; Proprietary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82880" y="1115568"/>
            <a:ext cx="576072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1115568"/>
            <a:ext cx="5760720" cy="47548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16128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" y="166420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Output  |  y ∈ ℝ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20848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Examples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3957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Property valuations (Rightmove AI, Hometrack UK)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268833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Demand forecasting (Carrefour, Lidl)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298094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Energy load prediction (National Grid ESO)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327355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LTV estimation (Vodafone, Deutsche Telekom)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35661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Salary benchmarking (Workday EU)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004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24281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MSE — penalises large errors more heavily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451713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MAE — robust to outliers, less differentiable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479145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Huber — combines MSE and MAE properties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53492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Linear activation  |  Metric: MAE / RMSE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17920" y="1115568"/>
            <a:ext cx="576072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1115568"/>
            <a:ext cx="5760720" cy="47548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116128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09360" y="166420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Label  |  y ∈ {0, 1, … K}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20848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Examples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0" y="23957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Loan default prediction (ING, Lloyds — binary)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00800" y="268833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Transaction fraud detection (Mastercard, Stripe)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00800" y="298094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Disease diagnosis (NHS AI Lab, Roche)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00800" y="327355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 churn (BT Group, Orange — binary)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00800" y="35661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 routing (HMRC, BNP Paribas — multi-class)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5508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0" y="424281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Binary Cross-Entropy — binary classification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00800" y="451713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Categorical Cross-Entropy — multi-class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00800" y="479145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Focal Loss — extreme class imbalance (fraud, AML)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09360" y="53492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Sigmoid (binary)  |  Softmax (multi-class)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1463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L1 · Chapter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Problem Type Diagnostic — From Business Question to ML Formulation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" y="713232"/>
            <a:ext cx="12088368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49808"/>
            <a:ext cx="1170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ambiguous business questions into precisely specified supervised learning problems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66202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SaamSoft Systems  |  Confidential &amp; Proprietary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115568"/>
          <a:ext cx="11795760" cy="5120640"/>
        </p:xfrm>
        <a:graphic>
          <a:graphicData uri="http://schemas.openxmlformats.org/drawingml/2006/table">
            <a:tbl>
              <a:tblPr/>
              <a:tblGrid>
                <a:gridCol w="3474720"/>
                <a:gridCol w="2194560"/>
                <a:gridCol w="2560320"/>
                <a:gridCol w="35661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Question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Variable 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Metric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this customer repay their mortgage?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(1) / No Default (0)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AUC-ROC, Recall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will quarterly revenue be?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Revenue (continuous)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MAE, RMSE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product category will this order belong to?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Multi-class 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label (A … 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(Macro)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long until this machine fails?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 (Survival)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to failure (continuous)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MAE, C-Index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this X-ray showing pneumonia?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(1) / Negative (0)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(Sensitivity)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the risk tier for this SME loan?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 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/ Medium / High / Very 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 Accuracy, AUC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units will we sell next week?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 (Time Series)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 sold (continuous, t+7)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MAPE, RMSE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" y="2560320"/>
            <a:ext cx="868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Supervised Learning Pipeline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3749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stages from business framing to production monitoring — and the regulatory obligations at each stage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01200" y="1097280"/>
            <a:ext cx="2377440" cy="4754880"/>
          </a:xfrm>
          <a:prstGeom prst="rect">
            <a:avLst/>
          </a:prstGeom>
          <a:solidFill>
            <a:srgbClr val="2E75B6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1280160"/>
            <a:ext cx="2194560" cy="4389120"/>
          </a:xfrm>
          <a:prstGeom prst="rect">
            <a:avLst/>
          </a:prstGeom>
          <a:solidFill>
            <a:srgbClr val="2E75B6">
              <a:alpha val="40000"/>
            </a:srgbClr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1463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L1 · Chapter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The 7-Stage Supervised ML Pipeline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" y="713232"/>
            <a:ext cx="12088368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49808"/>
            <a:ext cx="1170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1–4: Framing, Data, Features, and Splits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66202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SaamSoft Systems  |  Confidential &amp; Proprietary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82880" y="1115568"/>
            <a:ext cx="57607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1115568"/>
            <a:ext cx="5760720" cy="43891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3" name="Shape 11"/>
          <p:cNvSpPr/>
          <p:nvPr/>
        </p:nvSpPr>
        <p:spPr>
          <a:xfrm>
            <a:off x="182880" y="1115568"/>
            <a:ext cx="502920" cy="43891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111556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49808" y="117043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Problem Framing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2608" y="1645920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Define: prediction target, decision boundary, cost of each error type, applicable regulatory regime, minimum performance threshold.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92608" y="3035808"/>
            <a:ext cx="5577840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" y="306324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EU AI Act · GDPR Art. 22 · EBA GL/2020/06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217920" y="1115568"/>
            <a:ext cx="57607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115568"/>
            <a:ext cx="5760720" cy="43891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1" name="Shape 19"/>
          <p:cNvSpPr/>
          <p:nvPr/>
        </p:nvSpPr>
        <p:spPr>
          <a:xfrm>
            <a:off x="6217920" y="1115568"/>
            <a:ext cx="502920" cy="43891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111556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784848" y="117043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 &amp; Labelling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327648" y="1645920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Temenos, Finastra (banking), SAP/Oracle (ERP), ONS/Eurostat/Statistics Canada (open data), EHDS/FIDA (EU data sharing).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327648" y="3035808"/>
            <a:ext cx="5577840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26" name="Text 24"/>
          <p:cNvSpPr/>
          <p:nvPr/>
        </p:nvSpPr>
        <p:spPr>
          <a:xfrm>
            <a:off x="6382512" y="306324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GDPR data processor agreements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82880" y="3584448"/>
            <a:ext cx="57607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82880" y="3584448"/>
            <a:ext cx="5760720" cy="43891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9" name="Shape 27"/>
          <p:cNvSpPr/>
          <p:nvPr/>
        </p:nvSpPr>
        <p:spPr>
          <a:xfrm>
            <a:off x="182880" y="3584448"/>
            <a:ext cx="502920" cy="43891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0" name="Text 28"/>
          <p:cNvSpPr/>
          <p:nvPr/>
        </p:nvSpPr>
        <p:spPr>
          <a:xfrm>
            <a:off x="182880" y="358444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49808" y="363931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92608" y="4114800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Normalisation, categorical encoding, missing value imputation, temporal features (lags, rolling means), feature selection via L1 importance / mutual information.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92608" y="5504688"/>
            <a:ext cx="5577840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34" name="Text 32"/>
          <p:cNvSpPr/>
          <p:nvPr/>
        </p:nvSpPr>
        <p:spPr>
          <a:xfrm>
            <a:off x="347472" y="553212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Feature documentation required for MRM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17920" y="3584448"/>
            <a:ext cx="57607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7920" y="3584448"/>
            <a:ext cx="5760720" cy="43891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7" name="Shape 35"/>
          <p:cNvSpPr/>
          <p:nvPr/>
        </p:nvSpPr>
        <p:spPr>
          <a:xfrm>
            <a:off x="6217920" y="3584448"/>
            <a:ext cx="502920" cy="43891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8" name="Text 36"/>
          <p:cNvSpPr/>
          <p:nvPr/>
        </p:nvSpPr>
        <p:spPr>
          <a:xfrm>
            <a:off x="6217920" y="358444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784848" y="363931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Validation / Test Split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327648" y="4114800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before any modelling. Apply temporal ordering for time-series. Reserve test set for final unbiased evaluation only.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327648" y="5504688"/>
            <a:ext cx="5577840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42" name="Text 40"/>
          <p:cNvSpPr/>
          <p:nvPr/>
        </p:nvSpPr>
        <p:spPr>
          <a:xfrm>
            <a:off x="6382512" y="553212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Data leakage = most common production failure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1463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L1 · Chapter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The 7-Stage Pipeline (continued)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" y="713232"/>
            <a:ext cx="12088368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49808"/>
            <a:ext cx="1170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5–7: Training, Evaluation, Deployment &amp; Monitoring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66202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SaamSoft Systems  |  Confidential &amp; Proprietary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82880" y="1115568"/>
            <a:ext cx="37490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1115568"/>
            <a:ext cx="3749040" cy="43891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3" name="Shape 11"/>
          <p:cNvSpPr/>
          <p:nvPr/>
        </p:nvSpPr>
        <p:spPr>
          <a:xfrm>
            <a:off x="182880" y="1115568"/>
            <a:ext cx="502920" cy="43891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111556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49808" y="117043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Optimisation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2608" y="1664208"/>
            <a:ext cx="35478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variants (SGD, Adam). Ensemble methods: tree induction + hyperparameter search (Optuna, Hyperopt). Document hyperparameter choices for MRM governance.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92608" y="4572000"/>
            <a:ext cx="3547872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" y="459028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EBA GL/2020/06 · OSFI E-23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178808" y="1115568"/>
            <a:ext cx="37490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78808" y="1115568"/>
            <a:ext cx="3749040" cy="43891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1" name="Shape 19"/>
          <p:cNvSpPr/>
          <p:nvPr/>
        </p:nvSpPr>
        <p:spPr>
          <a:xfrm>
            <a:off x="4178808" y="1115568"/>
            <a:ext cx="502920" cy="43891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4178808" y="111556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745736" y="117043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Validation &amp; Governance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88536" y="1664208"/>
            <a:ext cx="35478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Out-of-time testing, population stability analysis, fairness auditing (GDPR, EU AI Act, ECOA/US, Equality Act 2010/UK). High-risk sectors: mandatory second-line validation.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88536" y="4572000"/>
            <a:ext cx="3547872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26" name="Text 24"/>
          <p:cNvSpPr/>
          <p:nvPr/>
        </p:nvSpPr>
        <p:spPr>
          <a:xfrm>
            <a:off x="4343400" y="459028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EU AI Act Annex IV · FCA SS1/23 · OSFI E-23 · OCC SR 11-7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174736" y="1115568"/>
            <a:ext cx="37490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174736" y="1115568"/>
            <a:ext cx="3749040" cy="43891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9" name="Shape 27"/>
          <p:cNvSpPr/>
          <p:nvPr/>
        </p:nvSpPr>
        <p:spPr>
          <a:xfrm>
            <a:off x="8174736" y="1115568"/>
            <a:ext cx="502920" cy="43891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0" name="Text 28"/>
          <p:cNvSpPr/>
          <p:nvPr/>
        </p:nvSpPr>
        <p:spPr>
          <a:xfrm>
            <a:off x="8174736" y="111556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741664" y="117043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Production Monitoring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84464" y="1664208"/>
            <a:ext cx="35478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Monitor: data drift (inputs shift), concept drift (relationship changes), model degradation. Tools: Evidently AI, Arize, WhyLabs. Document retraining schedules in model governance framework.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284464" y="4572000"/>
            <a:ext cx="3547872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34" name="Text 32"/>
          <p:cNvSpPr/>
          <p:nvPr/>
        </p:nvSpPr>
        <p:spPr>
          <a:xfrm>
            <a:off x="8339328" y="459028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Ongoing compliance obligations in all jurisdictions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82880" y="5029200"/>
            <a:ext cx="11795760" cy="1097280"/>
          </a:xfrm>
          <a:prstGeom prst="rect">
            <a:avLst/>
          </a:prstGeom>
          <a:solidFill>
            <a:srgbClr val="FDEDEC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2880" y="5029200"/>
            <a:ext cx="91440" cy="10972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5084064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Data Leakage Warning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65760" y="5358384"/>
            <a:ext cx="11612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— contamination of training with future information — is the leading cause of production ML failure. Common patterns: using post-default account features, normalising on full dataset before splitting, violating temporal boundaries on train/test joins. A model that leaks will appear excellent in development and fail immediately in production.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" y="2560320"/>
            <a:ext cx="868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Supervised Learning Algorithms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3749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architect's reference: 8 families, enterprise use cases, and when each fits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01200" y="1097280"/>
            <a:ext cx="2377440" cy="4754880"/>
          </a:xfrm>
          <a:prstGeom prst="rect">
            <a:avLst/>
          </a:prstGeom>
          <a:solidFill>
            <a:srgbClr val="2E75B6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1280160"/>
            <a:ext cx="2194560" cy="4389120"/>
          </a:xfrm>
          <a:prstGeom prst="rect">
            <a:avLst/>
          </a:prstGeom>
          <a:solidFill>
            <a:srgbClr val="2E75B6">
              <a:alpha val="40000"/>
            </a:srgbClr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1463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L1 · Chapter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 The 8 Core Supervised Learning Algorithm Families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" y="713232"/>
            <a:ext cx="12088368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49808"/>
            <a:ext cx="1170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choice is rarely the primary driver — data quality, validation, and regulatory fit dominate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66202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SaamSoft Systems  |  Confidential &amp; Proprietary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" y="1115568"/>
          <a:ext cx="11978640" cy="5212080"/>
        </p:xfrm>
        <a:graphic>
          <a:graphicData uri="http://schemas.openxmlformats.org/drawingml/2006/table">
            <a:tbl>
              <a:tblPr/>
              <a:tblGrid>
                <a:gridCol w="2103120"/>
                <a:gridCol w="1188720"/>
                <a:gridCol w="2286000"/>
                <a:gridCol w="2286000"/>
                <a:gridCol w="411480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Strength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Limitation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Use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Interpretable, fast baseline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Assumes linearity; outlier-sensitive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forecasting (Siemens, Unilever)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Probabilities; audit-friendly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capture non-linear patterns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credit scoring (ING, Société Générale)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Highly interpretable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Prone to overfitting; unstable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rule extraction (BaFin, FCA)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Robust; handles missing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Slower; less interpretable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detection (Mastercard Europe)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State-of-the-art tabular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Hyperparameter sensitive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scoring (HSBC, BNP Paribas)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 in high dimensions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on large datasets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classification (law, insurance)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k-NN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Simple; no training phase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inference; memory intensive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 detection (legacy fraud systems)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Naïve Bayes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Extremely fast; small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Assumes feature independence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spam, NLP 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" y="2560320"/>
            <a:ext cx="868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Bias–Variance Tradeoff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3749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framework for understanding model generalisation in enterprise settings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01200" y="1097280"/>
            <a:ext cx="2377440" cy="4754880"/>
          </a:xfrm>
          <a:prstGeom prst="rect">
            <a:avLst/>
          </a:prstGeom>
          <a:solidFill>
            <a:srgbClr val="2E75B6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1280160"/>
            <a:ext cx="2194560" cy="4389120"/>
          </a:xfrm>
          <a:prstGeom prst="rect">
            <a:avLst/>
          </a:prstGeom>
          <a:solidFill>
            <a:srgbClr val="2E75B6">
              <a:alpha val="40000"/>
            </a:srgbClr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1463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L1 · Chapter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 Bias–Variance Decomposition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" y="713232"/>
            <a:ext cx="12088368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49808"/>
            <a:ext cx="1170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Error  =  Bias²  +  Variance  +  Irreducible Noise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66202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SaamSoft Systems  |  Confidential &amp; Proprietary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82880" y="1115568"/>
            <a:ext cx="11795760" cy="694944"/>
          </a:xfrm>
          <a:prstGeom prst="rect">
            <a:avLst/>
          </a:prstGeom>
          <a:solidFill>
            <a:srgbClr val="1F3864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1207008"/>
            <a:ext cx="11612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 Error  =  Bias²  +  Variance  +  Irreducible Noise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82880" y="1920240"/>
            <a:ext cx="379476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7D3C9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1920240"/>
            <a:ext cx="3794760" cy="45720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197510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Bias²  |  Underfitting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2487168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assumptions too simplistic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" y="3145536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Training error is HIGH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0040" y="3803904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Validation error is HIGH (both poor)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0040" y="4462272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Systematic patterns in residuals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0040" y="512064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↳  Add features, reduce regularisation, use more complex model class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206240" y="1920240"/>
            <a:ext cx="379476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06240" y="1920240"/>
            <a:ext cx="3794760" cy="4572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0" y="197510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 |  Overfitting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43400" y="2487168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memorised training noise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343400" y="3145536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Training error is VERY LOW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343400" y="3803904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Validation error is HIGH (large gap)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343400" y="4462272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Predictions fluctuate across training subsets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343400" y="512064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↳  L1/L2 regularisation, more data, dropout, cross-validation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229600" y="1920240"/>
            <a:ext cx="379476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6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29600" y="1920240"/>
            <a:ext cx="3794760" cy="457200"/>
          </a:xfrm>
          <a:prstGeom prst="rect">
            <a:avLst/>
          </a:prstGeom>
          <a:solidFill>
            <a:srgbClr val="196F3D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197510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Irreducible  |  Inherent noise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66760" y="2487168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Inherent in the data-generating process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366760" y="3145536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Cannot be reduced by any model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366760" y="3803904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Sets a floor on achievable error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366760" y="4462272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Due to measurement noise, missing features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366760" y="512064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↳  Accept; collect better data if possible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" y="2560320"/>
            <a:ext cx="868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3749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correct metric is one of the most consequential decisions in supervised ML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01200" y="1097280"/>
            <a:ext cx="2377440" cy="4754880"/>
          </a:xfrm>
          <a:prstGeom prst="rect">
            <a:avLst/>
          </a:prstGeom>
          <a:solidFill>
            <a:srgbClr val="2E75B6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1280160"/>
            <a:ext cx="2194560" cy="4389120"/>
          </a:xfrm>
          <a:prstGeom prst="rect">
            <a:avLst/>
          </a:prstGeom>
          <a:solidFill>
            <a:srgbClr val="2E75B6">
              <a:alpha val="40000"/>
            </a:srgbClr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1463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L1 · Chapter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  Evaluation Metrics — Selecting the Right Measure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" y="713232"/>
            <a:ext cx="12088368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49808"/>
            <a:ext cx="1170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wrong metric optimises for a quantity that doesn't reflect business objectives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66202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SaamSoft Systems  |  Confidential &amp; Proprietary</a:t>
            </a:r>
            <a:endParaRPr lang="en-US" sz="7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" y="1115568"/>
          <a:ext cx="11978640" cy="420624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560320"/>
                <a:gridCol w="5303520"/>
              </a:tblGrid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Prioritise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Example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/ 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classes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benchmarking (rarely used alone in enterprise)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 / (TP + FP)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false positives is 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Anti-money laundering (HSBC, Santander)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(Sensitivity)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 / (TP + FN)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false negatives is 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Cancer screening (NHS AI Lab, Philips Health)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2×P×R / (P+R)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Imbalanced classes; balanced tradeoff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detection (Mastercard, Stripe)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under ROC curve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ranking &amp; threshold selection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risk (ING, TD Bank, Wells Fargo)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Loss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−log P(y|x)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 calibration is essential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 pricing (Zurich, AXA, Intact)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for imbalance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Extreme class imbalance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 disease prediction (Roche, Novartis)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91440" y="5394960"/>
            <a:ext cx="11978640" cy="1207008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440" y="5394960"/>
            <a:ext cx="91440" cy="120700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4" name="Text 11"/>
          <p:cNvSpPr/>
          <p:nvPr/>
        </p:nvSpPr>
        <p:spPr>
          <a:xfrm>
            <a:off x="256032" y="5449824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Class Imbalance Warning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56032" y="5742432"/>
            <a:ext cx="11704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rates in European card payments: ~0.04–0.08% of transactions. A model predicting 'no fraud' for every transaction achieves 99.96% accuracy — and catches zero fraudulent transactions. Use Precision, Recall, F1, AUC-ROC, and MCC instead. Threshold calibration is a business decision — the probability cutoff is a business parameter, not a model parameter.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" y="2560320"/>
            <a:ext cx="868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Case Studies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3749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regulated deployments: ING · NHS · BNP Paribas · TD Bank · Siemens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01200" y="1097280"/>
            <a:ext cx="2377440" cy="4754880"/>
          </a:xfrm>
          <a:prstGeom prst="rect">
            <a:avLst/>
          </a:prstGeom>
          <a:solidFill>
            <a:srgbClr val="2E75B6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1280160"/>
            <a:ext cx="2194560" cy="4389120"/>
          </a:xfrm>
          <a:prstGeom prst="rect">
            <a:avLst/>
          </a:prstGeom>
          <a:solidFill>
            <a:srgbClr val="2E75B6">
              <a:alpha val="40000"/>
            </a:srgbClr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1463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L1 · Chapter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ING Group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" y="713232"/>
            <a:ext cx="12088368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49808"/>
            <a:ext cx="1170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🇳🇱  Netherlands — Europe  |  Retail Banking | Credit Risk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66202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SaamSoft Systems  |  Confidential &amp; Proprietary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37160" y="1115568"/>
            <a:ext cx="8686800" cy="12344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1887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8600" y="144475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mortgage affordability assessment. Reduce underwriting time from 5–7 days to same-day decisions while maintaining DNB/ECB/EU AI Act regulatory compliance.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137160" y="2414016"/>
            <a:ext cx="8686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487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Approach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8600" y="27432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(LightGBM). Features: income-to-debt ratio, LTV ratio, credit bureau scores, PSD2 open banking transaction data, ECB rates, Dutch house price index.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137160" y="3712464"/>
            <a:ext cx="8686800" cy="12344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78561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Strategy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" y="4041648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AUC-ROC (out-of-time 2022 test set). Secondary: Precision, Recall, F1. PSI monitored monthly. Fairness metrics per GDPR Art. 22 across gender and age cohorts.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137160" y="5010912"/>
            <a:ext cx="8686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50840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Fit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8600" y="5340096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under EU AI Act Annex III. Conformity assessment + Annex IV documentation. Human loan officer review triggered within ±0.08 of decision boundary. Second-line MRM validation per ECB (2022).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9006840" y="1115568"/>
            <a:ext cx="3017520" cy="5193792"/>
          </a:xfrm>
          <a:prstGeom prst="rect">
            <a:avLst/>
          </a:prstGeom>
          <a:solidFill>
            <a:srgbClr val="1F3864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098280" y="12070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98280" y="1572768"/>
            <a:ext cx="2834640" cy="0"/>
          </a:xfrm>
          <a:prstGeom prst="line">
            <a:avLst/>
          </a:prstGeom>
          <a:noFill/>
          <a:ln w="10160">
            <a:solidFill>
              <a:srgbClr val="C9A2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98280" y="1664208"/>
            <a:ext cx="2834640" cy="126187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098280" y="175564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 days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9098280" y="235915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4.2 hrs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098280" y="3081528"/>
            <a:ext cx="2834640" cy="126187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098280" y="31729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+8pts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9098280" y="377647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coefficient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098280" y="4498848"/>
            <a:ext cx="2834640" cy="126187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098280" y="459028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9098280" y="519379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reviews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098280" y="58521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time: 5.7 days → 4.2 hours. Gini coefficient +8 points vs. prior scorecard. 34% reduction in manually reviewed applications.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1463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L1 · Chapter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NHS AI Lab / Moorfields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" y="713232"/>
            <a:ext cx="12088368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49808"/>
            <a:ext cx="1170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🇬🇧  United Kingdom — Europe  |  Healthcare | Medical Imaging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66202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SaamSoft Systems  |  Confidential &amp; Proprietary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37160" y="1115568"/>
            <a:ext cx="8686800" cy="12344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1887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8600" y="144475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detection and referral of 50+ sight-threatening retinal diseases from OCT scans. Reduce diagnostic backlog — NHS wait times exceed 66 days, threatening permanent sight loss.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137160" y="2414016"/>
            <a:ext cx="8686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487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Approach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8600" y="27432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classification (3D U-Net segmentation + classification head). Labels: consensus annotation by consultant ophthalmologists. Primary metric: Sensitivity — missed diagnosis has catastrophically higher cost.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137160" y="3712464"/>
            <a:ext cx="8686800" cy="12344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78561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Strategy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" y="4041648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≥ expert ophthalmologist performance at all urgency tiers. Secondary: specificity. Validated against panel of 8 leading specialists. Published in Nature Medicine (De Fauw et al., 2018).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137160" y="5010912"/>
            <a:ext cx="8686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50840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Fit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8600" y="5340096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Device Class IIb (UK MDR 2002 / UKCA marking). MHRA approval. Pre-market clinical evidence required. All AI recommendations reviewed by trained ophthalmic technician before action.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9006840" y="1115568"/>
            <a:ext cx="3017520" cy="5193792"/>
          </a:xfrm>
          <a:prstGeom prst="rect">
            <a:avLst/>
          </a:prstGeom>
          <a:solidFill>
            <a:srgbClr val="0E6655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098280" y="12070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98280" y="1572768"/>
            <a:ext cx="2834640" cy="0"/>
          </a:xfrm>
          <a:prstGeom prst="line">
            <a:avLst/>
          </a:prstGeom>
          <a:noFill/>
          <a:ln w="10160">
            <a:solidFill>
              <a:srgbClr val="C9A2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98280" y="1664208"/>
            <a:ext cx="2834640" cy="126187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098280" y="175564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9098280" y="235915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accuracy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098280" y="3081528"/>
            <a:ext cx="2834640" cy="126187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098280" y="31729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9098280" y="377647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freed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098280" y="4498848"/>
            <a:ext cx="2834640" cy="126187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098280" y="459028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9098280" y="519379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Diseases detected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098280" y="58521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diagnostic performance of 8 leading ophthalmologists. Freed 36% of specialist consultation slots. Referral accuracy: 94.0% for most urgent tiers.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1463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L1 · Chapter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BNP Paribas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" y="713232"/>
            <a:ext cx="12088368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49808"/>
            <a:ext cx="1170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 France — Europe  |  Investment Banking | Trade Finance AML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66202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SaamSoft Systems  |  Confidential &amp; Proprietary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37160" y="1115568"/>
            <a:ext cx="8686800" cy="12344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1887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8600" y="144475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AML/sanctions screening of 80,000+ daily trade finance documentary credits. Prior rule-based system flagged 22% of transactions for manual review; only 0.3% were genuinely suspicious.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137160" y="2414016"/>
            <a:ext cx="8686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487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Approach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8600" y="27432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classification: Logistic Regression (audit trail) + XGBoost ensemble. TF-IDF NLP on free-text LC document fields. Optimised: Recall ≥ 99.5% for high-risk corridors; precision maximised within that constraint.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137160" y="3712464"/>
            <a:ext cx="8686800" cy="12344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78561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Strategy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" y="4041648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Precision-Recall tradeoff with business-defined cost structure. Cost(FN) = regulatory fine + reputational risk. Cost(FP) = compliance analyst review cost. SHAP explainability for compliance officers.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137160" y="5010912"/>
            <a:ext cx="8686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50840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Fit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8600" y="5340096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BCBS 239 data principles. French ACPR supervisory expectations. Big Four external audit annually. SHAP values integrated into compliance officer decision screen.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9006840" y="1115568"/>
            <a:ext cx="3017520" cy="5193792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098280" y="12070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98280" y="1572768"/>
            <a:ext cx="2834640" cy="0"/>
          </a:xfrm>
          <a:prstGeom prst="line">
            <a:avLst/>
          </a:prstGeom>
          <a:noFill/>
          <a:ln w="10160">
            <a:solidFill>
              <a:srgbClr val="C9A2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98280" y="1664208"/>
            <a:ext cx="2834640" cy="126187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098280" y="175564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9098280" y="235915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reduction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098280" y="3081528"/>
            <a:ext cx="2834640" cy="126187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098280" y="31729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€28M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9098280" y="377647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098280" y="4498848"/>
            <a:ext cx="2834640" cy="126187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098280" y="459028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22%→4.7%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9098280" y="519379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098280" y="58521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rate: 22% → 4.7% (79% reduction). Average review time: 2.3 days → 6.2 hours. Estimated annual saving: €28 million across European operations.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1463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L1 · Chapter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TD Bank Group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" y="713232"/>
            <a:ext cx="12088368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49808"/>
            <a:ext cx="1170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🇨🇦🇺🇸  Canada + United States  |  Retail Banking | Customer LTV Regression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66202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SaamSoft Systems  |  Confidential &amp; Proprietary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37160" y="1115568"/>
            <a:ext cx="8686800" cy="12344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1887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8600" y="144475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Customer Lifetime Value (CLV) over 36 months for 27 million customers. Enable personalised product recommendation, proactive attrition management, and resource allocation.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137160" y="2414016"/>
            <a:ext cx="8686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487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Approach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8600" y="27432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(XGBoost ensemble) per lifecycle stage (new, active, at-risk, dormant). Features: product holdings, transaction velocity, service channel usage, credit utilisation, geographic indicators. Primary metric: MAE in CAD$.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137160" y="3712464"/>
            <a:ext cx="8686800" cy="12344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78561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Strategy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" y="4041648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(linear cost assumption). Spearman rank correlation (relative customer ranking). Validated quarterly against actual 12-month outcomes. Data residency enforced: Canadian customer data in Canadian AWS regions.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137160" y="5010912"/>
            <a:ext cx="8686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50840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Fit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8600" y="5340096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OSFI Guideline E-23 (Canada) + OCC SR 11-7 (US). Credit pricing use cases: US ECOA fair lending review. Quebec Law 25 + PIPEDA + CCPA + GLB Act.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9006840" y="1115568"/>
            <a:ext cx="3017520" cy="5193792"/>
          </a:xfrm>
          <a:prstGeom prst="rect">
            <a:avLst/>
          </a:prstGeom>
          <a:solidFill>
            <a:srgbClr val="2E4053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098280" y="12070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98280" y="1572768"/>
            <a:ext cx="2834640" cy="0"/>
          </a:xfrm>
          <a:prstGeom prst="line">
            <a:avLst/>
          </a:prstGeom>
          <a:noFill/>
          <a:ln w="10160">
            <a:solidFill>
              <a:srgbClr val="C9A2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98280" y="1664208"/>
            <a:ext cx="2834640" cy="126187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098280" y="175564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+26%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9098280" y="235915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acceptance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098280" y="3081528"/>
            <a:ext cx="2834640" cy="126187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098280" y="31729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−19%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9098280" y="377647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reduction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098280" y="4498848"/>
            <a:ext cx="2834640" cy="126187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098280" y="459028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$340M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9098280" y="519379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revenue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098280" y="58521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offer acceptance rate +26%. Churn reduction: 19% in top-quintile CLV customers where proactive intervention applied. Estimated incremental revenue: CAD $340 million (18 months).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1463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L1 · Chapter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Siemens AG — Digital Industries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" y="713232"/>
            <a:ext cx="12088368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49808"/>
            <a:ext cx="1170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🇩🇪  Germany — Europe  |  Manufacturing | Predictive Maintenance SaaS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66202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SaamSoft Systems  |  Confidential &amp; Proprietary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37160" y="1115568"/>
            <a:ext cx="8686800" cy="12344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1887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8600" y="144475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motor and CNC machine failures 72+ hours in advance. Deliver as SaaS via MindSphere IoT platform. Reduce the €864B annual cost of unplanned downtime in European manufacturing.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137160" y="2414016"/>
            <a:ext cx="8686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487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Approach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8600" y="27432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(Random Forest). Features: FFT vibration frequency bands, temperature sensors, power consumption, motor current signature analysis. Target: Recall ≥ 85% at ≤ 15% false positive rate.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137160" y="3712464"/>
            <a:ext cx="8686800" cy="12344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78561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Strategy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" y="4041648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vs. FPR operating point. Prior rule-based system: 38% FPR. Class imbalance: ~1.2% failure rate. Label noise from inconsistent maintenance logging — addressed via expert heuristic consensus labelling.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137160" y="5010912"/>
            <a:ext cx="8686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50840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Fit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8600" y="5340096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Machinery Regulation (2023/1230) for safety-critical decisions. CE marking + Type Examination documentation. System is advisory — human maintenance engineers make final intervention decisions.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9006840" y="1115568"/>
            <a:ext cx="3017520" cy="5193792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098280" y="12070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98280" y="1572768"/>
            <a:ext cx="2834640" cy="0"/>
          </a:xfrm>
          <a:prstGeom prst="line">
            <a:avLst/>
          </a:prstGeom>
          <a:noFill/>
          <a:ln w="10160">
            <a:solidFill>
              <a:srgbClr val="C9A2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98280" y="1664208"/>
            <a:ext cx="2834640" cy="126187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098280" y="175564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−36%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9098280" y="235915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reduction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098280" y="3081528"/>
            <a:ext cx="2834640" cy="126187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098280" y="31729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38%→11%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9098280" y="377647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 rate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098280" y="4498848"/>
            <a:ext cx="2834640" cy="126187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098280" y="459028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9098280" y="519379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renewal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098280" y="58521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downtime reduced 36%. False alarm rate: 38% → 11% (71% reduction). Customer retention in Predictive Services tier: 91% annual renewal rate.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1463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L1 · Chapter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  Chapter Summary — Key Takeaways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" y="713232"/>
            <a:ext cx="12088368" cy="29260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49808"/>
            <a:ext cx="1170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enterprise AI architect must be fluent in this vocabulary before engaging regulators or technology vendors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66202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SaamSoft Systems  |  Confidential &amp; Proprietary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82880" y="1115568"/>
            <a:ext cx="576072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1115568"/>
            <a:ext cx="640080" cy="1609344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161848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32688" y="1463040"/>
            <a:ext cx="4919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requires labelled data, a defined prediction target, and a measurable business outcome.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115568"/>
            <a:ext cx="576072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115568"/>
            <a:ext cx="640080" cy="160934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61848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967728" y="1463040"/>
            <a:ext cx="4919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vs. classification is the primary architectural decision — algorithm and metric selection follows from this.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82880" y="2834640"/>
            <a:ext cx="576072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2880" y="2834640"/>
            <a:ext cx="640080" cy="1609344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" y="33375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32688" y="3182112"/>
            <a:ext cx="4919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7-stage pipeline must be followed rigorously. Shortcutting any stage introduces compounding risk.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17920" y="2834640"/>
            <a:ext cx="576072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2834640"/>
            <a:ext cx="640080" cy="160934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33375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967728" y="3182112"/>
            <a:ext cx="4919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bias–variance tradeoff governs generalisation. Regularisation and cross-validation are the primary controls.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82880" y="4553712"/>
            <a:ext cx="576072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82880" y="4553712"/>
            <a:ext cx="640080" cy="1609344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9" name="Text 27"/>
          <p:cNvSpPr/>
          <p:nvPr/>
        </p:nvSpPr>
        <p:spPr>
          <a:xfrm>
            <a:off x="182880" y="505663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932688" y="4901184"/>
            <a:ext cx="4919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must reflect business cost structure. Accuracy is rarely the right metric with imbalanced classes.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17920" y="4553712"/>
            <a:ext cx="576072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4553712"/>
            <a:ext cx="640080" cy="160934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505663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967728" y="4901184"/>
            <a:ext cx="4919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obligations apply in every major jurisdiction: EU AI Act · GDPR · FCA SS1/23 · OSFI E-23 · OCC SR 11-7 · ECOA.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9984"/>
            <a:ext cx="12161520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28016"/>
            <a:ext cx="164592" cy="660196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371600"/>
            <a:ext cx="11430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Complete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365760" y="2560320"/>
            <a:ext cx="82296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67004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Concepts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34747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840480"/>
            <a:ext cx="1143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Chapter 3: Classification vs. Regression — Deep Dive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4297680"/>
            <a:ext cx="1143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Chapter 4: Linear &amp; Logistic Regression in Enterprise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4754880"/>
            <a:ext cx="1143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Chapter 5: Tree-Based Methods &amp; Ensemble Learning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6217920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CAISA™ Level 1  |  Chapter 2 of 48  |  © SaamSoft Systems — All Rights Reserved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CAISA Level 1 — Chapter 2: Supervised Learning Concepts</dc:title>
  <dc:subject>PptxGenJS Presentation</dc:subject>
  <dc:creator>SaamSoft Systems</dc:creator>
  <cp:lastModifiedBy>SaamSoft Systems</cp:lastModifiedBy>
  <cp:revision>1</cp:revision>
  <dcterms:created xsi:type="dcterms:W3CDTF">2026-02-17T20:30:48Z</dcterms:created>
  <dcterms:modified xsi:type="dcterms:W3CDTF">2026-02-17T20:30:48Z</dcterms:modified>
</cp:coreProperties>
</file>