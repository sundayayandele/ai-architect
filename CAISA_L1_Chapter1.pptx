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371600" y="1600200"/>
            <a:ext cx="6400800" cy="7315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AI Systems Architect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7315200" cy="1554480"/>
          </a:xfrm>
          <a:prstGeom prst="rect">
            <a:avLst/>
          </a:prstGeom>
          <a:solidFill>
            <a:srgbClr val="0D7EA2">
              <a:alpha val="15000"/>
            </a:srgbClr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774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AI FOUNDATIONS ARCHITECT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7614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0906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&amp; ML Lifecycle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1.5 Hours  |  Part I: Machine Learning Foundations  |  Week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lesson, you will be able to: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502920" cy="100584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54480"/>
            <a:ext cx="466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325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Artificial Intelligence and distinguish it from traditional software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68296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68296"/>
            <a:ext cx="502920" cy="100584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688336"/>
            <a:ext cx="466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459736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nested relationship between AI, Machine Learning, and Deep Learning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02152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02152"/>
            <a:ext cx="502920" cy="100584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822192"/>
            <a:ext cx="466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593592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all six stages of the ML Lifecycle in enterprise settings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2344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234440"/>
            <a:ext cx="502920" cy="100584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554480"/>
            <a:ext cx="466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40680" y="1325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key roles in a cross-functional AI project team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368296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368296"/>
            <a:ext cx="502920" cy="100584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688336"/>
            <a:ext cx="466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40680" y="2459736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 real-world business problem to the appropriate lifecycle stage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3502152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502152"/>
            <a:ext cx="502920" cy="100584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822192"/>
            <a:ext cx="466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40680" y="3593592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AI project feasibility using the DAPS Framework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What Is Artificial Intelligence?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science and engineering of creating computer systems capable of performing tasks that, until recently, required human intelligence.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51760" cy="1828800"/>
          </a:xfrm>
          <a:prstGeom prst="rect">
            <a:avLst/>
          </a:prstGeom>
          <a:solidFill>
            <a:srgbClr val="1A2D5A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Datasets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&amp; digitisation created petabytes of labelled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651760" cy="1828800"/>
          </a:xfrm>
          <a:prstGeom prst="rect">
            <a:avLst/>
          </a:prstGeom>
          <a:solidFill>
            <a:srgbClr val="0D7EA2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91840" y="24871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Compute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88036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made parallel numerical computation economically viable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651760" cy="1828800"/>
          </a:xfrm>
          <a:prstGeom prst="rect">
            <a:avLst/>
          </a:prstGeom>
          <a:solidFill>
            <a:srgbClr val="C896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24871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Breakthroughs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288036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Backpropagation, CNNs, Transformers unlocked new capabilities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3931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 Dartmouth Conference → AI Summers &amp; Winters → 2012: Deep Learning era → Today: Enterprise 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The AI Landscape: A Nested Hierarchy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303520" cy="3474720"/>
          </a:xfrm>
          <a:prstGeom prst="roundRect">
            <a:avLst>
              <a:gd name="adj" fmla="val 3158"/>
            </a:avLst>
          </a:prstGeom>
          <a:solidFill>
            <a:srgbClr val="1A2D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70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technique mimicking human intelligence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4480560" cy="2606040"/>
          </a:xfrm>
          <a:prstGeom prst="roundRect">
            <a:avLst>
              <a:gd name="adj" fmla="val 4211"/>
            </a:avLst>
          </a:prstGeom>
          <a:solidFill>
            <a:srgbClr val="0D7EA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184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learn from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196596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C896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0756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neural networks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2377440"/>
            <a:ext cx="29260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6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4505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Generative AI / LLMs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743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create new content: text, images, code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0" y="1143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vs. ML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508760"/>
          <a:ext cx="2926080" cy="2377440"/>
        </p:xfrm>
        <a:graphic>
          <a:graphicData uri="http://schemas.openxmlformats.org/drawingml/2006/table">
            <a:tbl>
              <a:tblPr/>
              <a:tblGrid>
                <a:gridCol w="975360"/>
                <a:gridCol w="975360"/>
                <a:gridCol w="9753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A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writes rules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learns from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+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+ Expected Outputs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learned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reprogrammed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retrained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The Machine Learning Lifecycle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repeatable 6-stage process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2468880" cy="14173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62072" y="1591056"/>
            <a:ext cx="338328" cy="329184"/>
          </a:xfrm>
          <a:prstGeom prst="rightArrow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143000"/>
            <a:ext cx="2468880" cy="141732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188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162763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Exploration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96712" y="1591056"/>
            <a:ext cx="338328" cy="329184"/>
          </a:xfrm>
          <a:prstGeom prst="rightArrow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143000"/>
            <a:ext cx="2468880" cy="14173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188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162763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0" y="2194560"/>
            <a:ext cx="320040" cy="457200"/>
          </a:xfrm>
          <a:prstGeom prst="downArrow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880360"/>
            <a:ext cx="2468880" cy="14173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29260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26480" y="336499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Retraining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96712" y="3328416"/>
            <a:ext cx="338328" cy="329184"/>
          </a:xfrm>
          <a:prstGeom prst="leftArrow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880360"/>
            <a:ext cx="2468880" cy="1417320"/>
          </a:xfrm>
          <a:prstGeom prst="rect">
            <a:avLst/>
          </a:prstGeom>
          <a:solidFill>
            <a:srgbClr val="B07A1A"/>
          </a:solidFill>
          <a:ln w="12700">
            <a:solidFill>
              <a:srgbClr val="B07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91840" y="29260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291840" y="336499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Integration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62072" y="3328416"/>
            <a:ext cx="338328" cy="329184"/>
          </a:xfrm>
          <a:prstGeom prst="leftArrow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880360"/>
            <a:ext cx="2468880" cy="141732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29260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336499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" y="2176272"/>
            <a:ext cx="320040" cy="475488"/>
          </a:xfrm>
          <a:prstGeom prst="upArrow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4622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— revisit earlier stages as needed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Deep Dive — Stages 1 &amp;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64008" cy="22860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Business Problem 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384048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business problem? | Is ML the right solution? | What does success look like? | What data exists?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Problem Statement • Success Metrics • Feasibility Assessment • Stakeholder Sign-off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64008" cy="228600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88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Data Collection &amp; Exploration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90472"/>
            <a:ext cx="384048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Acquire, understand, and assess data quality.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Completeness • Accuracy • Consistency • Timeliness • Uniqueness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Distributions • Correlations • Missing values • Class imbalance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566160"/>
            <a:ext cx="8458200" cy="1024128"/>
          </a:xfrm>
          <a:prstGeom prst="rect">
            <a:avLst/>
          </a:prstGeom>
          <a:solidFill>
            <a:srgbClr val="FFF3CD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210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Insight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91363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data quality is the single most common reason ML projects fail. 'Garbage in, garbage out' applies with full force.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Deep Dive — Stages 3, 4 &amp; 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64008" cy="356616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Feature 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2514600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&amp; Standardisation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Creation &amp; Selection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Split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Never let test data touch training!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43000"/>
            <a:ext cx="64008" cy="356616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887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Model Training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490472"/>
            <a:ext cx="2514600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ML algorithm to training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loss function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selection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Accuracy, AUC-ROC, F1, RMSE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143000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143000"/>
            <a:ext cx="64008" cy="356616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1887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Deployment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490472"/>
            <a:ext cx="2514600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(most common)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Inference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Model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• Containerisation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• Rollback Strategy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— Monitoring &amp; Retraining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 never truly ends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Drift: Why Performance Degrades Over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645920"/>
            <a:ext cx="2743200" cy="118872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7190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distribution of input features changes (covariate shift)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645920"/>
            <a:ext cx="2743200" cy="118872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7190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between inputs and outputs changes (e.g., new fraud strategies)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645920"/>
            <a:ext cx="2743200" cy="11887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7190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Drift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target labels changes over time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999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Triggers: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337560"/>
            <a:ext cx="841248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 drops below threshold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retraining cadence (e.g., monthly)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data distribution shift detected by monitoring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external event: economic shock, regulatory change, fraud pattern evolution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 Key Roles in an AI Project Team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64008" cy="82296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9786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Architect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49047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design, infrastructure, security, lifecycle governance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075688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75688"/>
            <a:ext cx="64008" cy="82296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13055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42316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pipelines, storage systems, ETL/ELT processes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08376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08376"/>
            <a:ext cx="64008" cy="8229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0632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335584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research, experimentation, statistical analysis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941064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941064"/>
            <a:ext cx="64008" cy="82296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99592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4288536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model implementation, MLOps, serving infrastructure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143000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143000"/>
            <a:ext cx="64008" cy="82296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11978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0328" y="14904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intelligence, EDA, dashboards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075688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075688"/>
            <a:ext cx="64008" cy="82296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130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0328" y="24231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definition, stakeholder alignment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008376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008376"/>
            <a:ext cx="64008" cy="8229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10328" y="33558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context, label validation, feature intuition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 AI Feasibility — The DAPS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problem should be solved with ML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9659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965960" cy="82296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170078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1783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sufficient, high-quality, labelled data available or acquirable at reasonable cost?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68880" y="1143000"/>
            <a:ext cx="19659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143000"/>
            <a:ext cx="1965960" cy="82296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170432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514600" y="170078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057400"/>
            <a:ext cx="1783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accuracy level is required, and is ML likely to achieve it with the available data?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1143000"/>
            <a:ext cx="19659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143000"/>
            <a:ext cx="1965960" cy="82296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170432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663440" y="170078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2057400"/>
            <a:ext cx="1783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problem contain learnable patterns, or is it inherently unpredictable?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66560" y="1143000"/>
            <a:ext cx="19659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143000"/>
            <a:ext cx="1965960" cy="8229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170432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812280" y="170078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057400"/>
            <a:ext cx="1783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decision volume justify the cost of ML vs. manual processing?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0040" y="431596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to D, A, or P is 'No' → ML is likely not the right approach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 Enterprise Case Studies: Europe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real-world ML deployments across banking &amp; insurance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85039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502920" cy="676656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3502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12070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 Bank  |  Netherlands  |  Banking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5179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 payment fraud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43400" y="133502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Isolation Forest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23760" y="1261872"/>
            <a:ext cx="1463040" cy="47548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42048" y="1316736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46% fraud losses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920240"/>
            <a:ext cx="85039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920240"/>
            <a:ext cx="502920" cy="676656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8483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" y="19568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 |  UK  |  Banking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22677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43400" y="208483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 + XGBoost ensemble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23760" y="2011680"/>
            <a:ext cx="1463040" cy="475488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2048" y="2066544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77% detection time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670048"/>
            <a:ext cx="85039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670048"/>
            <a:ext cx="502920" cy="676656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83464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" y="27066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SE  |  Germany  |  Insurance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30175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claims fraud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43400" y="2834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BERT (2-stage)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23760" y="2761488"/>
            <a:ext cx="1463040" cy="47548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42048" y="2816352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64% fraud detected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419856"/>
            <a:ext cx="85039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419856"/>
            <a:ext cx="502920" cy="676656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8444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2688" y="34564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  |  France  |  Banking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2688" y="37673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credit risk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343400" y="35844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+ LightGBM blend (IRB)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223760" y="3511296"/>
            <a:ext cx="1463040" cy="47548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2048" y="356616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96% decision time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169664"/>
            <a:ext cx="85039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4169664"/>
            <a:ext cx="502920" cy="676656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33425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32688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AXA  |  France  |  Insurance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32688" y="45171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343400" y="433425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Hazards + CatBoost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223760" y="4261104"/>
            <a:ext cx="1463040" cy="47548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42048" y="4315968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5.7pts churn rate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1/5 — ING Bank (Netherlands)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SEPA Payment Fraud Detection | Banking | LightGBM + Isolation Forest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029200" cy="3657600"/>
          </a:xfrm>
          <a:prstGeom prst="rect">
            <a:avLst/>
          </a:prstGeom>
          <a:solidFill>
            <a:srgbClr val="F4F6F9"/>
          </a:solidFill>
          <a:ln w="6350">
            <a:solidFill>
              <a:srgbClr val="8899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€180M annual fraud | 0.008% fraud rate | 92% false positives | SEPA 10-second SLA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Regulation: EU PSD2, GDPR, EBA | DPIA completed before any processing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7685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27685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≥88%, FPR ≤0.4%, Latency ≤150ms, SEPA 10-sec SLA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974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697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1.2B transactions (3 yrs); behavioural biometrics; DPIA before ingestion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1810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1181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 features → 97 retained; velocity windows, IP-distance, session entropy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502152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3872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5387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Isolation Forest dual-layer. AUC-ROC: 0.989. Recall: 91%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22776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5935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39593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Kubernetes; circuit breaker to rule-based backup; 30-day shadow mode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7997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37997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monitoring top-50 features; emergency retrain if PSI &gt; 0.25; EBA audit logs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32120" y="1097280"/>
            <a:ext cx="3291840" cy="36576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1170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9 Months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15000" y="1481328"/>
            <a:ext cx="2926080" cy="86868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60720" y="152704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▼46%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76072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Losses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€180M → €97M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15000" y="2468880"/>
            <a:ext cx="2926080" cy="86868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60720" y="251460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▼61%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760720" y="29992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15000" y="3456432"/>
            <a:ext cx="2926080" cy="86868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60720" y="350215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47ms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5760720" y="39867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Inference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2/5 — HSBC (United Kingdom)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 with Graph ML | Banking | GraphSAGE + XGBoost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029200" cy="3657600"/>
          </a:xfrm>
          <a:prstGeom prst="rect">
            <a:avLst/>
          </a:prstGeom>
          <a:solidFill>
            <a:srgbClr val="F4F6F9"/>
          </a:solidFill>
          <a:ln w="6350">
            <a:solidFill>
              <a:srgbClr val="8899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$1.9B AML settlement (2012) | 35,000 SARs/month | 94% false positives | £120M investigator cost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Regulation: UK MLR 2017, EU AMLD6, FCA, FinCEN | Tier 1 Model Risk Classification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7685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27685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SAR rate ≤60%, genuine network detection ≥90%, FCA-defensible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974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697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EU/UK transactions (2019–23); graph: accounts=nodes, transactions=edges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1810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1181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 features: centrality, betweenness, fund velocity, shell-company score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502152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3872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5387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 + XGBoost stacking. AUC-ROC: 0.961. GNNExplainer for FCA audit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22776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5935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39593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batch to Actimize CRM; prioritised account clusters with SHAP narratives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7997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37997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FCA model review; annual independent validation; Tier 1 MRM registry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32120" y="1097280"/>
            <a:ext cx="3291840" cy="36576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1170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12 Months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15000" y="1481328"/>
            <a:ext cx="2926080" cy="86868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60720" y="152704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▼49%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76072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35K → 18K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15000" y="2468880"/>
            <a:ext cx="2926080" cy="86868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60720" y="251460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▼£59M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760720" y="29992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15000" y="3456432"/>
            <a:ext cx="2926080" cy="86868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60720" y="350215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▼77%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5760720" y="39867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Flag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3/5 — Allianz SE (Germany)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Insurance Claims Fraud | Insurance | 2-Stage XGBoost + BERT + Federated Learning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029200" cy="3657600"/>
          </a:xfrm>
          <a:prstGeom prst="rect">
            <a:avLst/>
          </a:prstGeom>
          <a:solidFill>
            <a:srgbClr val="F4F6F9"/>
          </a:solidFill>
          <a:ln w="6350">
            <a:solidFill>
              <a:srgbClr val="8899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€340M annual fraudulent motor claims | 8% claims manually reviewed | 31% detection 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Regulation: EU Solvency II, GDPR, BaFin, EIOPA AI Guidelines | 12 EU markets | Federated learning for GDPR cross-border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0428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3042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≥60%, referral rate ≤12%, decision delay ≤2 days, EIOPA-interpretable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2491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7249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11.4M claims (7yrs, 6 countries); repair shops, VIN, weather, court records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4553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14553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Federated: local models per country, weights shared (not personal data)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6616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566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XGBoost triage (&lt;100ms). Stage 2: RF+LightGBM+BERT ensemble. AUC-ROC: 0.978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50208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8678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398678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EU-only (Schrems II); Stage 1 real-time; Stage 2 async SHAP report in 4h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370832"/>
            <a:ext cx="384048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0740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4074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fraud intelligence retraining; EIOPA bias testing by claimant demographics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32120" y="1097280"/>
            <a:ext cx="3291840" cy="36576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1170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18 Months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15000" y="1481328"/>
            <a:ext cx="2926080" cy="86868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60720" y="152704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▲64%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76072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→ 64%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15000" y="2468880"/>
            <a:ext cx="2926080" cy="86868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60720" y="251460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€127M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760720" y="29992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Fraud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15000" y="3456432"/>
            <a:ext cx="2926080" cy="86868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60720" y="350215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▼62%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5760720" y="39867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Fraud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4/5 — BNP Paribas (France)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Credit Risk Assessment | Banking | Logistic Regression + LightGBM (ECB IRB-compliant)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029200" cy="3657600"/>
          </a:xfrm>
          <a:prstGeom prst="rect">
            <a:avLst/>
          </a:prstGeom>
          <a:solidFill>
            <a:srgbClr val="F4F6F9"/>
          </a:solidFill>
          <a:ln w="6350">
            <a:solidFill>
              <a:srgbClr val="8899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loan decisions | NPL rate 6.8% (ECB benchmark: 5%) | SMEs defecting to fintech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Regulation: EU CRR3 (Basel IV), ECB TRIM, GDPR, Banque de France | Gini ≥ 0.55 required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84048" cy="347472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7685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27685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≤24h for ≥80% of sub-€2M apps; NPL ≤5%; Gini ≥0.55 (ECB TRIM min)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384048" cy="347472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974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697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420K loans (10yrs); OCR financial statements; PSD2 open banking; Banque de France registry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384048" cy="347472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1810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1181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 features → 118 retained; sector-adjusted ratios; 3-yr trend velocity; VIF multicollinearity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502152"/>
            <a:ext cx="384048" cy="347472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3872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5387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(IRB-compliant) + LightGBM blend. Gini: 0.61. Stress-tested vs COVID 2020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22776"/>
            <a:ext cx="384048" cy="347472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5935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39593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FSC integration; auto-approve AAA-B sub-€500K in &lt;3h; human review C-D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384048" cy="347472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7997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37997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recalibration; annual ECB TRIM resubmission; Banque de France quarterly disclosures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32120" y="1097280"/>
            <a:ext cx="3291840" cy="36576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1170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24 Months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15000" y="1481328"/>
            <a:ext cx="2926080" cy="86868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60720" y="152704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▼96%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76072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 → 6 hrs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15000" y="2468880"/>
            <a:ext cx="2926080" cy="86868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60720" y="251460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760720" y="29992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NPL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6.8%)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15000" y="3456432"/>
            <a:ext cx="2926080" cy="86868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60720" y="350215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5760720" y="39867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5/5 — AXA (France)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| Insurance | Cox Survival Analysis + CatBoost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029200" cy="3657600"/>
          </a:xfrm>
          <a:prstGeom prst="rect">
            <a:avLst/>
          </a:prstGeom>
          <a:solidFill>
            <a:srgbClr val="F4F6F9"/>
          </a:solidFill>
          <a:ln w="6350">
            <a:solidFill>
              <a:srgbClr val="8899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 annual churn (industry avg: 12%) | Acquisition cost 7–9× retention | Only 14% of campaign-contacted customers at actual risk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Regulation: EU Solvency II, GDPR, EIOPA, FCA Consumer Duty | 4 countries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384048" cy="34747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0428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3042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Top-decile lift ≥4.0; campaign conversion ≥35%; churn ≤13% by Month 12; GDPR legal basis documented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384048" cy="34747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2491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7249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5yrs policyholder data; NPS, payment behaviour, digital engagement; FCA restricts price comparison data (UK)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84048" cy="34747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4553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14553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framing: P(churn within T days). Premium change %, DDB failures, relationship breadth, NPS trajectory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384048" cy="34747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6616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566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(regulatory, interpretable) + CatBoost (accuracy). Top-decile lift: 4.7. Separate models per country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50208"/>
            <a:ext cx="384048" cy="34747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8678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398678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batch → CRM queue; SHAP churn reasons in natural language; GDPR erasure: retrain within 30 days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370832"/>
            <a:ext cx="384048" cy="34747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0740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4074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group benchmarking for causal impact; seasonal recalibration; DPO receives monthly data processing report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32120" y="1097280"/>
            <a:ext cx="3291840" cy="36576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1170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12 Months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15000" y="1481328"/>
            <a:ext cx="2926080" cy="86868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60720" y="152704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76072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Churn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18.4%)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15000" y="2468880"/>
            <a:ext cx="2926080" cy="86868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60720" y="251460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€112M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760720" y="29992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Premium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15000" y="3456432"/>
            <a:ext cx="2926080" cy="86868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60720" y="350215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▼56%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5760720" y="39867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Cross-Case Synthesis: Four Universal Lessons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across all 5 European case studies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16002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5272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2344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Precedes All Technical 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defined a precise, measurable business problem before any data collection or model selection. This is the single most important discipline in applied ML.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26080"/>
            <a:ext cx="64008" cy="160020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347472" cy="347472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3580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Is an Architectural Constraint — Not an Afterthought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ECB TRIM, FCA Consumer Duty, EIOPA AI Guidelines, Solvency II — baked into data architecture, model interpretability, and deployment design from Day 1.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114300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143000"/>
            <a:ext cx="64008" cy="160020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1234440"/>
            <a:ext cx="347472" cy="347472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25272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12344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Only Part of the Solution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169164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integrated ML into a human workflow: fraud investigators (ING, HSBC, Allianz), credit analysts (BNP), retention agents (AXA). Best outcomes = human + machine.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26080"/>
            <a:ext cx="64008" cy="16002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3017520"/>
            <a:ext cx="347472" cy="34747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03580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30175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Retraining Are Non-Negotiable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47472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patterns evolve, customers shift, macros change. In every case, a production-grade monitoring infrastructure was as critical as the model itself.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 Hands-On Lab: ML Lifecycle Scoping Exercise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8503920" cy="14173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2529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Scenario — Agri-Connect Nigeria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loan repayment rate is only 61%. We give seasonal loans to farmers to buy inputs, but many don't repay. We think AI could predict which farmers are likely to default. We have 3 years of farmer data. Can ML help us?"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724912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724912"/>
            <a:ext cx="457200" cy="86868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298094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86968" y="277063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— 15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6968" y="307238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DAPS Framework. Justify each dimension: D, A, P, 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724912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2724912"/>
            <a:ext cx="457200" cy="86868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298094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84648" y="277063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— 20 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84648" y="307238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Business problem, ML framing, target variable, 2 success metrics, 2 risks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730752"/>
            <a:ext cx="457200" cy="86868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398678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86968" y="377647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Inventory — 20 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" y="407822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8+ features: name, type, source, quality concern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3730752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3730752"/>
            <a:ext cx="457200" cy="868680"/>
          </a:xfrm>
          <a:prstGeom prst="rect">
            <a:avLst/>
          </a:prstGeom>
          <a:solidFill>
            <a:srgbClr val="0D7EA2"/>
          </a:solidFill>
          <a:ln w="12700">
            <a:solidFill>
              <a:srgbClr val="0D7E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398678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184648" y="377647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Plan — 15 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84648" y="407822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the 6 stages: key activity + primary risk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| Chapter 1: Introduction to AI &amp; ML Lifecycle | © SaamSoft Systems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— 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98755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⊃ Machine Learning ⊃ Deep Learning. Every production AI system today is Narrow AI.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84124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459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64592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inverts traditional programming: instead of writing rules, we learn them from data.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231136"/>
            <a:ext cx="841248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0428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30428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6-Stage ML Lifecycle is the governing framework for every professional AI project.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84124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626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296265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— not algorithmic sophistication — is the #1 determinant of ML project success.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547872"/>
            <a:ext cx="841248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62102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621024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DAPS Framework (Data, Accuracy, Pattern, Scale) evaluates whether ML is appropriate.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27939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427939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requires cross-functional teams led by the AI Systems Architect.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4773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— Chapter 1 of 48  |  © SaamSoft Systems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CAISA Level 1 — Chapter 1: Introduction to AI &amp; ML Lifecycle</dc:title>
  <dc:subject>PptxGenJS Presentation</dc:subject>
  <dc:creator>SaamSoft Systems</dc:creator>
  <cp:lastModifiedBy>SaamSoft Systems</cp:lastModifiedBy>
  <cp:revision>1</cp:revision>
  <dcterms:created xsi:type="dcterms:W3CDTF">2026-02-17T19:35:49Z</dcterms:created>
  <dcterms:modified xsi:type="dcterms:W3CDTF">2026-02-17T19:35:49Z</dcterms:modified>
</cp:coreProperties>
</file>